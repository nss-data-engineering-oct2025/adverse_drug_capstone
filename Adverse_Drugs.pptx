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2" r:id="rId5"/>
    <p:sldId id="262" r:id="rId6"/>
    <p:sldId id="273" r:id="rId7"/>
    <p:sldId id="266" r:id="rId8"/>
    <p:sldId id="271" r:id="rId9"/>
    <p:sldId id="268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FFB915-8A49-4102-818E-1E1FB29A6E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2A8CD4-A482-4C62-A3F7-B9F8FE334007}">
      <dgm:prSet/>
      <dgm:spPr/>
      <dgm:t>
        <a:bodyPr/>
        <a:lstStyle/>
        <a:p>
          <a:r>
            <a:rPr lang="en-US"/>
            <a:t>Zip file ingestion from ClinicalTrials.gov</a:t>
          </a:r>
        </a:p>
      </dgm:t>
    </dgm:pt>
    <dgm:pt modelId="{40405337-2E43-4698-947A-3E14DBDBE083}" type="parTrans" cxnId="{DC0BAE8B-B9A1-46F0-8CDD-9127B5907661}">
      <dgm:prSet/>
      <dgm:spPr/>
      <dgm:t>
        <a:bodyPr/>
        <a:lstStyle/>
        <a:p>
          <a:endParaRPr lang="en-US"/>
        </a:p>
      </dgm:t>
    </dgm:pt>
    <dgm:pt modelId="{EF57F0A7-6B13-4085-9A88-AF8B297F32E4}" type="sibTrans" cxnId="{DC0BAE8B-B9A1-46F0-8CDD-9127B5907661}">
      <dgm:prSet/>
      <dgm:spPr/>
      <dgm:t>
        <a:bodyPr/>
        <a:lstStyle/>
        <a:p>
          <a:endParaRPr lang="en-US"/>
        </a:p>
      </dgm:t>
    </dgm:pt>
    <dgm:pt modelId="{BE9F3604-A38D-4963-9EAB-24067F3FE330}">
      <dgm:prSet/>
      <dgm:spPr/>
      <dgm:t>
        <a:bodyPr/>
        <a:lstStyle/>
        <a:p>
          <a:r>
            <a:rPr lang="en-US"/>
            <a:t>Bulk JSON ingestion for Drugs@FDA</a:t>
          </a:r>
        </a:p>
      </dgm:t>
    </dgm:pt>
    <dgm:pt modelId="{4ED49788-D1FF-4B1D-A304-3D2E6EAC5244}" type="parTrans" cxnId="{65E70605-3E45-4C07-9DCA-DB04F5E7DBF8}">
      <dgm:prSet/>
      <dgm:spPr/>
      <dgm:t>
        <a:bodyPr/>
        <a:lstStyle/>
        <a:p>
          <a:endParaRPr lang="en-US"/>
        </a:p>
      </dgm:t>
    </dgm:pt>
    <dgm:pt modelId="{3CE66D2F-1AF3-4E21-A1FF-AE18512C4549}" type="sibTrans" cxnId="{65E70605-3E45-4C07-9DCA-DB04F5E7DBF8}">
      <dgm:prSet/>
      <dgm:spPr/>
      <dgm:t>
        <a:bodyPr/>
        <a:lstStyle/>
        <a:p>
          <a:endParaRPr lang="en-US"/>
        </a:p>
      </dgm:t>
    </dgm:pt>
    <dgm:pt modelId="{EBC7488C-2924-4AAC-919B-1B2215910AAD}">
      <dgm:prSet/>
      <dgm:spPr/>
      <dgm:t>
        <a:bodyPr/>
        <a:lstStyle/>
        <a:p>
          <a:r>
            <a:rPr lang="en-US"/>
            <a:t>Parallel FAERS quarterly file ingestion</a:t>
          </a:r>
        </a:p>
      </dgm:t>
    </dgm:pt>
    <dgm:pt modelId="{DF2434ED-FFC7-4BDF-84C9-C2EFF7472098}" type="parTrans" cxnId="{3BCB6EF5-95C8-4539-8087-A3179654D4AB}">
      <dgm:prSet/>
      <dgm:spPr/>
      <dgm:t>
        <a:bodyPr/>
        <a:lstStyle/>
        <a:p>
          <a:endParaRPr lang="en-US"/>
        </a:p>
      </dgm:t>
    </dgm:pt>
    <dgm:pt modelId="{B76B235E-CDCC-43DB-A6CD-A6D1D4B1C24F}" type="sibTrans" cxnId="{3BCB6EF5-95C8-4539-8087-A3179654D4AB}">
      <dgm:prSet/>
      <dgm:spPr/>
      <dgm:t>
        <a:bodyPr/>
        <a:lstStyle/>
        <a:p>
          <a:endParaRPr lang="en-US"/>
        </a:p>
      </dgm:t>
    </dgm:pt>
    <dgm:pt modelId="{087D4697-875E-4490-909B-CA2E565C3C6F}">
      <dgm:prSet/>
      <dgm:spPr/>
      <dgm:t>
        <a:bodyPr/>
        <a:lstStyle/>
        <a:p>
          <a:r>
            <a:rPr lang="en-US" dirty="0"/>
            <a:t>Ingestion of census data with API calls using </a:t>
          </a:r>
          <a:r>
            <a:rPr lang="en-US" dirty="0" err="1"/>
            <a:t>httpx</a:t>
          </a:r>
          <a:endParaRPr lang="en-US" dirty="0"/>
        </a:p>
      </dgm:t>
    </dgm:pt>
    <dgm:pt modelId="{F83E091C-E7DE-48F9-AC14-FA5E04DB7994}" type="parTrans" cxnId="{DE6A93DB-2E59-4355-8D61-38E5D36A3F76}">
      <dgm:prSet/>
      <dgm:spPr/>
      <dgm:t>
        <a:bodyPr/>
        <a:lstStyle/>
        <a:p>
          <a:endParaRPr lang="en-US"/>
        </a:p>
      </dgm:t>
    </dgm:pt>
    <dgm:pt modelId="{BC7FED7E-A4B1-4800-8ABF-39400D2C10A1}" type="sibTrans" cxnId="{DE6A93DB-2E59-4355-8D61-38E5D36A3F76}">
      <dgm:prSet/>
      <dgm:spPr/>
      <dgm:t>
        <a:bodyPr/>
        <a:lstStyle/>
        <a:p>
          <a:endParaRPr lang="en-US"/>
        </a:p>
      </dgm:t>
    </dgm:pt>
    <dgm:pt modelId="{AF042DF8-07BA-4543-B520-A82FD843D8A7}" type="pres">
      <dgm:prSet presAssocID="{B1FFB915-8A49-4102-818E-1E1FB29A6E97}" presName="linear" presStyleCnt="0">
        <dgm:presLayoutVars>
          <dgm:animLvl val="lvl"/>
          <dgm:resizeHandles val="exact"/>
        </dgm:presLayoutVars>
      </dgm:prSet>
      <dgm:spPr/>
    </dgm:pt>
    <dgm:pt modelId="{F29D28B6-DF92-41F4-AE17-E472BD1B4B94}" type="pres">
      <dgm:prSet presAssocID="{9C2A8CD4-A482-4C62-A3F7-B9F8FE33400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157226-B10D-48BA-B186-5695E2F82CDC}" type="pres">
      <dgm:prSet presAssocID="{EF57F0A7-6B13-4085-9A88-AF8B297F32E4}" presName="spacer" presStyleCnt="0"/>
      <dgm:spPr/>
    </dgm:pt>
    <dgm:pt modelId="{6E692B19-A4AC-4F0F-A03F-0BF01AB31654}" type="pres">
      <dgm:prSet presAssocID="{BE9F3604-A38D-4963-9EAB-24067F3FE33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15A1279-D178-4A20-BF54-E7303EB41373}" type="pres">
      <dgm:prSet presAssocID="{3CE66D2F-1AF3-4E21-A1FF-AE18512C4549}" presName="spacer" presStyleCnt="0"/>
      <dgm:spPr/>
    </dgm:pt>
    <dgm:pt modelId="{1B42D75F-6D07-483D-B68B-C7F7CC825E76}" type="pres">
      <dgm:prSet presAssocID="{EBC7488C-2924-4AAC-919B-1B2215910AA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F1FBF66-B13D-4B69-8E9E-890F3A725C62}" type="pres">
      <dgm:prSet presAssocID="{B76B235E-CDCC-43DB-A6CD-A6D1D4B1C24F}" presName="spacer" presStyleCnt="0"/>
      <dgm:spPr/>
    </dgm:pt>
    <dgm:pt modelId="{2114A0DA-FBF5-4DE0-B1FE-845A1D427FBE}" type="pres">
      <dgm:prSet presAssocID="{087D4697-875E-4490-909B-CA2E565C3C6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5E70605-3E45-4C07-9DCA-DB04F5E7DBF8}" srcId="{B1FFB915-8A49-4102-818E-1E1FB29A6E97}" destId="{BE9F3604-A38D-4963-9EAB-24067F3FE330}" srcOrd="1" destOrd="0" parTransId="{4ED49788-D1FF-4B1D-A304-3D2E6EAC5244}" sibTransId="{3CE66D2F-1AF3-4E21-A1FF-AE18512C4549}"/>
    <dgm:cxn modelId="{53FA1B05-E176-4CE1-82C7-1A164EEF6160}" type="presOf" srcId="{9C2A8CD4-A482-4C62-A3F7-B9F8FE334007}" destId="{F29D28B6-DF92-41F4-AE17-E472BD1B4B94}" srcOrd="0" destOrd="0" presId="urn:microsoft.com/office/officeart/2005/8/layout/vList2"/>
    <dgm:cxn modelId="{9ABBFF65-245C-4474-8EE4-5D433306ECBC}" type="presOf" srcId="{B1FFB915-8A49-4102-818E-1E1FB29A6E97}" destId="{AF042DF8-07BA-4543-B520-A82FD843D8A7}" srcOrd="0" destOrd="0" presId="urn:microsoft.com/office/officeart/2005/8/layout/vList2"/>
    <dgm:cxn modelId="{D8228B77-10E8-48FD-B2D9-3B96FD173618}" type="presOf" srcId="{087D4697-875E-4490-909B-CA2E565C3C6F}" destId="{2114A0DA-FBF5-4DE0-B1FE-845A1D427FBE}" srcOrd="0" destOrd="0" presId="urn:microsoft.com/office/officeart/2005/8/layout/vList2"/>
    <dgm:cxn modelId="{DC0BAE8B-B9A1-46F0-8CDD-9127B5907661}" srcId="{B1FFB915-8A49-4102-818E-1E1FB29A6E97}" destId="{9C2A8CD4-A482-4C62-A3F7-B9F8FE334007}" srcOrd="0" destOrd="0" parTransId="{40405337-2E43-4698-947A-3E14DBDBE083}" sibTransId="{EF57F0A7-6B13-4085-9A88-AF8B297F32E4}"/>
    <dgm:cxn modelId="{B58603A0-4552-4F63-8751-133B89FF180B}" type="presOf" srcId="{BE9F3604-A38D-4963-9EAB-24067F3FE330}" destId="{6E692B19-A4AC-4F0F-A03F-0BF01AB31654}" srcOrd="0" destOrd="0" presId="urn:microsoft.com/office/officeart/2005/8/layout/vList2"/>
    <dgm:cxn modelId="{DE6A93DB-2E59-4355-8D61-38E5D36A3F76}" srcId="{B1FFB915-8A49-4102-818E-1E1FB29A6E97}" destId="{087D4697-875E-4490-909B-CA2E565C3C6F}" srcOrd="3" destOrd="0" parTransId="{F83E091C-E7DE-48F9-AC14-FA5E04DB7994}" sibTransId="{BC7FED7E-A4B1-4800-8ABF-39400D2C10A1}"/>
    <dgm:cxn modelId="{CCAD4BED-E485-43B4-AA1E-CC35552FF605}" type="presOf" srcId="{EBC7488C-2924-4AAC-919B-1B2215910AAD}" destId="{1B42D75F-6D07-483D-B68B-C7F7CC825E76}" srcOrd="0" destOrd="0" presId="urn:microsoft.com/office/officeart/2005/8/layout/vList2"/>
    <dgm:cxn modelId="{3BCB6EF5-95C8-4539-8087-A3179654D4AB}" srcId="{B1FFB915-8A49-4102-818E-1E1FB29A6E97}" destId="{EBC7488C-2924-4AAC-919B-1B2215910AAD}" srcOrd="2" destOrd="0" parTransId="{DF2434ED-FFC7-4BDF-84C9-C2EFF7472098}" sibTransId="{B76B235E-CDCC-43DB-A6CD-A6D1D4B1C24F}"/>
    <dgm:cxn modelId="{54D7A69D-6F6F-41AB-916B-9A87203532BA}" type="presParOf" srcId="{AF042DF8-07BA-4543-B520-A82FD843D8A7}" destId="{F29D28B6-DF92-41F4-AE17-E472BD1B4B94}" srcOrd="0" destOrd="0" presId="urn:microsoft.com/office/officeart/2005/8/layout/vList2"/>
    <dgm:cxn modelId="{EC1A3A39-FBAA-488F-BD72-FB770B8E9D80}" type="presParOf" srcId="{AF042DF8-07BA-4543-B520-A82FD843D8A7}" destId="{5D157226-B10D-48BA-B186-5695E2F82CDC}" srcOrd="1" destOrd="0" presId="urn:microsoft.com/office/officeart/2005/8/layout/vList2"/>
    <dgm:cxn modelId="{E9502769-0324-4D44-83A7-2C9B911D5D7B}" type="presParOf" srcId="{AF042DF8-07BA-4543-B520-A82FD843D8A7}" destId="{6E692B19-A4AC-4F0F-A03F-0BF01AB31654}" srcOrd="2" destOrd="0" presId="urn:microsoft.com/office/officeart/2005/8/layout/vList2"/>
    <dgm:cxn modelId="{F64DACC1-A915-4CBF-AD3D-63DCA51681DE}" type="presParOf" srcId="{AF042DF8-07BA-4543-B520-A82FD843D8A7}" destId="{615A1279-D178-4A20-BF54-E7303EB41373}" srcOrd="3" destOrd="0" presId="urn:microsoft.com/office/officeart/2005/8/layout/vList2"/>
    <dgm:cxn modelId="{91B7B565-834B-4341-8B4D-661149280D86}" type="presParOf" srcId="{AF042DF8-07BA-4543-B520-A82FD843D8A7}" destId="{1B42D75F-6D07-483D-B68B-C7F7CC825E76}" srcOrd="4" destOrd="0" presId="urn:microsoft.com/office/officeart/2005/8/layout/vList2"/>
    <dgm:cxn modelId="{E95F23B5-F6E0-4931-928C-A8DD9AE4F8A7}" type="presParOf" srcId="{AF042DF8-07BA-4543-B520-A82FD843D8A7}" destId="{5F1FBF66-B13D-4B69-8E9E-890F3A725C62}" srcOrd="5" destOrd="0" presId="urn:microsoft.com/office/officeart/2005/8/layout/vList2"/>
    <dgm:cxn modelId="{7AC3B310-53D4-4BEA-A2CA-D92E7A37761C}" type="presParOf" srcId="{AF042DF8-07BA-4543-B520-A82FD843D8A7}" destId="{2114A0DA-FBF5-4DE0-B1FE-845A1D427F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0E9656-83E8-4772-9C5C-F1165D65192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4B9793-6195-438A-A902-C3F4BD52B5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BRONZE</a:t>
          </a:r>
        </a:p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Raw drug information, clinical trial data, adverse event data, and census data loaded into s3</a:t>
          </a:r>
        </a:p>
      </dgm:t>
    </dgm:pt>
    <dgm:pt modelId="{838F993A-384A-400F-8807-C30D9204E479}" type="parTrans" cxnId="{637D42FE-0714-487D-AA17-8FE0D740926F}">
      <dgm:prSet/>
      <dgm:spPr/>
      <dgm:t>
        <a:bodyPr/>
        <a:lstStyle/>
        <a:p>
          <a:endParaRPr lang="en-US"/>
        </a:p>
      </dgm:t>
    </dgm:pt>
    <dgm:pt modelId="{7313F9A3-FD07-4B4A-88E3-0F0AD256120F}" type="sibTrans" cxnId="{637D42FE-0714-487D-AA17-8FE0D740926F}">
      <dgm:prSet/>
      <dgm:spPr/>
      <dgm:t>
        <a:bodyPr/>
        <a:lstStyle/>
        <a:p>
          <a:endParaRPr lang="en-US"/>
        </a:p>
      </dgm:t>
    </dgm:pt>
    <dgm:pt modelId="{A1912B04-737E-4310-BD97-D19101F7B4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SILVER</a:t>
          </a:r>
        </a:p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Raw tables were cleaned, data types were assigned, any necessary extra columns were created (i.e. age group aggregation), and </a:t>
          </a:r>
          <a:r>
            <a:rPr lang="en-US" dirty="0" err="1">
              <a:solidFill>
                <a:schemeClr val="bg1"/>
              </a:solidFill>
            </a:rPr>
            <a:t>json</a:t>
          </a:r>
          <a:r>
            <a:rPr lang="en-US" dirty="0">
              <a:solidFill>
                <a:schemeClr val="bg1"/>
              </a:solidFill>
            </a:rPr>
            <a:t> layers were flattened</a:t>
          </a:r>
        </a:p>
      </dgm:t>
    </dgm:pt>
    <dgm:pt modelId="{8FFB29BD-B551-4443-820D-6EE64793B44A}" type="parTrans" cxnId="{0519709B-DF8E-4704-B312-622784201DC7}">
      <dgm:prSet/>
      <dgm:spPr/>
      <dgm:t>
        <a:bodyPr/>
        <a:lstStyle/>
        <a:p>
          <a:endParaRPr lang="en-US"/>
        </a:p>
      </dgm:t>
    </dgm:pt>
    <dgm:pt modelId="{AC0E2007-4D85-433F-BDF4-32DD4DFAEF50}" type="sibTrans" cxnId="{0519709B-DF8E-4704-B312-622784201DC7}">
      <dgm:prSet/>
      <dgm:spPr/>
      <dgm:t>
        <a:bodyPr/>
        <a:lstStyle/>
        <a:p>
          <a:endParaRPr lang="en-US"/>
        </a:p>
      </dgm:t>
    </dgm:pt>
    <dgm:pt modelId="{1DA0E997-FAE6-4642-BE72-B6867530FB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GOLD</a:t>
          </a:r>
        </a:p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Final marts tables were created, tables were joined (i.e. by drug application number or drug generic or brand name), and important columns for analysis were chosen</a:t>
          </a:r>
        </a:p>
      </dgm:t>
    </dgm:pt>
    <dgm:pt modelId="{65ED1925-89CB-437E-B1C6-4526AE080059}" type="parTrans" cxnId="{BC28C257-B6D2-4DF0-A05A-14E958985B0C}">
      <dgm:prSet/>
      <dgm:spPr/>
      <dgm:t>
        <a:bodyPr/>
        <a:lstStyle/>
        <a:p>
          <a:endParaRPr lang="en-US"/>
        </a:p>
      </dgm:t>
    </dgm:pt>
    <dgm:pt modelId="{2F5460A3-F0DA-4949-8212-192AABA6847A}" type="sibTrans" cxnId="{BC28C257-B6D2-4DF0-A05A-14E958985B0C}">
      <dgm:prSet/>
      <dgm:spPr/>
      <dgm:t>
        <a:bodyPr/>
        <a:lstStyle/>
        <a:p>
          <a:endParaRPr lang="en-US"/>
        </a:p>
      </dgm:t>
    </dgm:pt>
    <dgm:pt modelId="{DF9CEAEF-56E2-4BE0-BFAC-7D6A8FF0FE23}" type="pres">
      <dgm:prSet presAssocID="{580E9656-83E8-4772-9C5C-F1165D65192C}" presName="root" presStyleCnt="0">
        <dgm:presLayoutVars>
          <dgm:dir/>
          <dgm:resizeHandles val="exact"/>
        </dgm:presLayoutVars>
      </dgm:prSet>
      <dgm:spPr/>
    </dgm:pt>
    <dgm:pt modelId="{5937F100-41A7-453E-993E-B7E12D156255}" type="pres">
      <dgm:prSet presAssocID="{CA4B9793-6195-438A-A902-C3F4BD52B566}" presName="compNode" presStyleCnt="0"/>
      <dgm:spPr/>
    </dgm:pt>
    <dgm:pt modelId="{E5669AB3-EC2F-4C7D-A0F0-818BA2B60EDD}" type="pres">
      <dgm:prSet presAssocID="{CA4B9793-6195-438A-A902-C3F4BD52B566}" presName="bgRect" presStyleLbl="bgShp" presStyleIdx="0" presStyleCnt="3"/>
      <dgm:spPr/>
    </dgm:pt>
    <dgm:pt modelId="{89234CCA-8BB3-4C7C-A76F-2B58EF021683}" type="pres">
      <dgm:prSet presAssocID="{CA4B9793-6195-438A-A902-C3F4BD52B56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1F5565D8-DD36-42B3-92E1-0B1DEBF622BA}" type="pres">
      <dgm:prSet presAssocID="{CA4B9793-6195-438A-A902-C3F4BD52B566}" presName="spaceRect" presStyleCnt="0"/>
      <dgm:spPr/>
    </dgm:pt>
    <dgm:pt modelId="{A6D85E57-4211-4DCC-92D5-D6FC4837AD9A}" type="pres">
      <dgm:prSet presAssocID="{CA4B9793-6195-438A-A902-C3F4BD52B566}" presName="parTx" presStyleLbl="revTx" presStyleIdx="0" presStyleCnt="3">
        <dgm:presLayoutVars>
          <dgm:chMax val="0"/>
          <dgm:chPref val="0"/>
        </dgm:presLayoutVars>
      </dgm:prSet>
      <dgm:spPr/>
    </dgm:pt>
    <dgm:pt modelId="{8CDCE190-8C7E-41C3-816A-17CE2734807A}" type="pres">
      <dgm:prSet presAssocID="{7313F9A3-FD07-4B4A-88E3-0F0AD256120F}" presName="sibTrans" presStyleCnt="0"/>
      <dgm:spPr/>
    </dgm:pt>
    <dgm:pt modelId="{DD0FD123-8511-489B-8926-04BE11E3F8E0}" type="pres">
      <dgm:prSet presAssocID="{A1912B04-737E-4310-BD97-D19101F7B4AA}" presName="compNode" presStyleCnt="0"/>
      <dgm:spPr/>
    </dgm:pt>
    <dgm:pt modelId="{FC00B657-D43A-443F-A09B-4748032B8FA5}" type="pres">
      <dgm:prSet presAssocID="{A1912B04-737E-4310-BD97-D19101F7B4AA}" presName="bgRect" presStyleLbl="bgShp" presStyleIdx="1" presStyleCnt="3"/>
      <dgm:spPr/>
    </dgm:pt>
    <dgm:pt modelId="{F22274B0-26E1-4EC3-AE5C-E0E118E9651C}" type="pres">
      <dgm:prSet presAssocID="{A1912B04-737E-4310-BD97-D19101F7B4A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2AFB4764-9C22-4D70-AAD2-6F85B3C8058E}" type="pres">
      <dgm:prSet presAssocID="{A1912B04-737E-4310-BD97-D19101F7B4AA}" presName="spaceRect" presStyleCnt="0"/>
      <dgm:spPr/>
    </dgm:pt>
    <dgm:pt modelId="{420998CC-C05D-4328-BA65-3F04AD90052C}" type="pres">
      <dgm:prSet presAssocID="{A1912B04-737E-4310-BD97-D19101F7B4AA}" presName="parTx" presStyleLbl="revTx" presStyleIdx="1" presStyleCnt="3">
        <dgm:presLayoutVars>
          <dgm:chMax val="0"/>
          <dgm:chPref val="0"/>
        </dgm:presLayoutVars>
      </dgm:prSet>
      <dgm:spPr/>
    </dgm:pt>
    <dgm:pt modelId="{3B6DAB00-CE36-4EE5-A96D-A04F39B8C7A9}" type="pres">
      <dgm:prSet presAssocID="{AC0E2007-4D85-433F-BDF4-32DD4DFAEF50}" presName="sibTrans" presStyleCnt="0"/>
      <dgm:spPr/>
    </dgm:pt>
    <dgm:pt modelId="{7582F653-B9E9-4AD3-BFA9-478FA4812E30}" type="pres">
      <dgm:prSet presAssocID="{1DA0E997-FAE6-4642-BE72-B6867530FBAF}" presName="compNode" presStyleCnt="0"/>
      <dgm:spPr/>
    </dgm:pt>
    <dgm:pt modelId="{9D3EBDCF-F5EA-4A8D-AEF4-BB179D5084C5}" type="pres">
      <dgm:prSet presAssocID="{1DA0E997-FAE6-4642-BE72-B6867530FBAF}" presName="bgRect" presStyleLbl="bgShp" presStyleIdx="2" presStyleCnt="3"/>
      <dgm:spPr/>
    </dgm:pt>
    <dgm:pt modelId="{A5B517E0-499E-4D3A-B5B2-C62EA5204724}" type="pres">
      <dgm:prSet presAssocID="{1DA0E997-FAE6-4642-BE72-B6867530FBA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FA0A60B-3466-4BC6-8FD8-72D9F3E97409}" type="pres">
      <dgm:prSet presAssocID="{1DA0E997-FAE6-4642-BE72-B6867530FBAF}" presName="spaceRect" presStyleCnt="0"/>
      <dgm:spPr/>
    </dgm:pt>
    <dgm:pt modelId="{7C347585-FC07-45B7-A320-8F1B2A561585}" type="pres">
      <dgm:prSet presAssocID="{1DA0E997-FAE6-4642-BE72-B6867530FBA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988AE26-B276-42F1-A9D2-B64FC3A637BB}" type="presOf" srcId="{A1912B04-737E-4310-BD97-D19101F7B4AA}" destId="{420998CC-C05D-4328-BA65-3F04AD90052C}" srcOrd="0" destOrd="0" presId="urn:microsoft.com/office/officeart/2018/2/layout/IconVerticalSolidList"/>
    <dgm:cxn modelId="{BC28C257-B6D2-4DF0-A05A-14E958985B0C}" srcId="{580E9656-83E8-4772-9C5C-F1165D65192C}" destId="{1DA0E997-FAE6-4642-BE72-B6867530FBAF}" srcOrd="2" destOrd="0" parTransId="{65ED1925-89CB-437E-B1C6-4526AE080059}" sibTransId="{2F5460A3-F0DA-4949-8212-192AABA6847A}"/>
    <dgm:cxn modelId="{A587E098-1CDD-4AFE-A7F7-94B9E165B878}" type="presOf" srcId="{1DA0E997-FAE6-4642-BE72-B6867530FBAF}" destId="{7C347585-FC07-45B7-A320-8F1B2A561585}" srcOrd="0" destOrd="0" presId="urn:microsoft.com/office/officeart/2018/2/layout/IconVerticalSolidList"/>
    <dgm:cxn modelId="{0519709B-DF8E-4704-B312-622784201DC7}" srcId="{580E9656-83E8-4772-9C5C-F1165D65192C}" destId="{A1912B04-737E-4310-BD97-D19101F7B4AA}" srcOrd="1" destOrd="0" parTransId="{8FFB29BD-B551-4443-820D-6EE64793B44A}" sibTransId="{AC0E2007-4D85-433F-BDF4-32DD4DFAEF50}"/>
    <dgm:cxn modelId="{BA357FCC-4E04-46C5-8C04-85269A2A7CA7}" type="presOf" srcId="{CA4B9793-6195-438A-A902-C3F4BD52B566}" destId="{A6D85E57-4211-4DCC-92D5-D6FC4837AD9A}" srcOrd="0" destOrd="0" presId="urn:microsoft.com/office/officeart/2018/2/layout/IconVerticalSolidList"/>
    <dgm:cxn modelId="{F03059E9-14F9-490A-B949-0D22442A1B30}" type="presOf" srcId="{580E9656-83E8-4772-9C5C-F1165D65192C}" destId="{DF9CEAEF-56E2-4BE0-BFAC-7D6A8FF0FE23}" srcOrd="0" destOrd="0" presId="urn:microsoft.com/office/officeart/2018/2/layout/IconVerticalSolidList"/>
    <dgm:cxn modelId="{637D42FE-0714-487D-AA17-8FE0D740926F}" srcId="{580E9656-83E8-4772-9C5C-F1165D65192C}" destId="{CA4B9793-6195-438A-A902-C3F4BD52B566}" srcOrd="0" destOrd="0" parTransId="{838F993A-384A-400F-8807-C30D9204E479}" sibTransId="{7313F9A3-FD07-4B4A-88E3-0F0AD256120F}"/>
    <dgm:cxn modelId="{9651116A-8CEF-4638-92F7-FF3CE53A9A29}" type="presParOf" srcId="{DF9CEAEF-56E2-4BE0-BFAC-7D6A8FF0FE23}" destId="{5937F100-41A7-453E-993E-B7E12D156255}" srcOrd="0" destOrd="0" presId="urn:microsoft.com/office/officeart/2018/2/layout/IconVerticalSolidList"/>
    <dgm:cxn modelId="{10D34601-4CB3-4ECC-BC07-4495DA22832E}" type="presParOf" srcId="{5937F100-41A7-453E-993E-B7E12D156255}" destId="{E5669AB3-EC2F-4C7D-A0F0-818BA2B60EDD}" srcOrd="0" destOrd="0" presId="urn:microsoft.com/office/officeart/2018/2/layout/IconVerticalSolidList"/>
    <dgm:cxn modelId="{0427D68A-562C-41B4-AA78-5C89DA6D7A94}" type="presParOf" srcId="{5937F100-41A7-453E-993E-B7E12D156255}" destId="{89234CCA-8BB3-4C7C-A76F-2B58EF021683}" srcOrd="1" destOrd="0" presId="urn:microsoft.com/office/officeart/2018/2/layout/IconVerticalSolidList"/>
    <dgm:cxn modelId="{EF9A5E38-B965-4805-9EEB-3B25C01C53B0}" type="presParOf" srcId="{5937F100-41A7-453E-993E-B7E12D156255}" destId="{1F5565D8-DD36-42B3-92E1-0B1DEBF622BA}" srcOrd="2" destOrd="0" presId="urn:microsoft.com/office/officeart/2018/2/layout/IconVerticalSolidList"/>
    <dgm:cxn modelId="{C0D7B220-286F-490E-BC0B-335968A599A1}" type="presParOf" srcId="{5937F100-41A7-453E-993E-B7E12D156255}" destId="{A6D85E57-4211-4DCC-92D5-D6FC4837AD9A}" srcOrd="3" destOrd="0" presId="urn:microsoft.com/office/officeart/2018/2/layout/IconVerticalSolidList"/>
    <dgm:cxn modelId="{A4B3A3C2-56D2-4E40-A5DA-0A2392EA33CF}" type="presParOf" srcId="{DF9CEAEF-56E2-4BE0-BFAC-7D6A8FF0FE23}" destId="{8CDCE190-8C7E-41C3-816A-17CE2734807A}" srcOrd="1" destOrd="0" presId="urn:microsoft.com/office/officeart/2018/2/layout/IconVerticalSolidList"/>
    <dgm:cxn modelId="{725644DA-86F0-4080-9A3F-D36F468928D5}" type="presParOf" srcId="{DF9CEAEF-56E2-4BE0-BFAC-7D6A8FF0FE23}" destId="{DD0FD123-8511-489B-8926-04BE11E3F8E0}" srcOrd="2" destOrd="0" presId="urn:microsoft.com/office/officeart/2018/2/layout/IconVerticalSolidList"/>
    <dgm:cxn modelId="{F8BFF9D8-8947-4172-B85B-DBBD33B68483}" type="presParOf" srcId="{DD0FD123-8511-489B-8926-04BE11E3F8E0}" destId="{FC00B657-D43A-443F-A09B-4748032B8FA5}" srcOrd="0" destOrd="0" presId="urn:microsoft.com/office/officeart/2018/2/layout/IconVerticalSolidList"/>
    <dgm:cxn modelId="{8589A2E2-50AE-4A1A-AA39-18249ACC49A9}" type="presParOf" srcId="{DD0FD123-8511-489B-8926-04BE11E3F8E0}" destId="{F22274B0-26E1-4EC3-AE5C-E0E118E9651C}" srcOrd="1" destOrd="0" presId="urn:microsoft.com/office/officeart/2018/2/layout/IconVerticalSolidList"/>
    <dgm:cxn modelId="{4E40B362-8F48-4C51-B017-5942FE9AF557}" type="presParOf" srcId="{DD0FD123-8511-489B-8926-04BE11E3F8E0}" destId="{2AFB4764-9C22-4D70-AAD2-6F85B3C8058E}" srcOrd="2" destOrd="0" presId="urn:microsoft.com/office/officeart/2018/2/layout/IconVerticalSolidList"/>
    <dgm:cxn modelId="{2B39967B-54FC-4D92-ABC6-307679AAF15F}" type="presParOf" srcId="{DD0FD123-8511-489B-8926-04BE11E3F8E0}" destId="{420998CC-C05D-4328-BA65-3F04AD90052C}" srcOrd="3" destOrd="0" presId="urn:microsoft.com/office/officeart/2018/2/layout/IconVerticalSolidList"/>
    <dgm:cxn modelId="{CF0CB2D4-2FBE-4221-B275-87FB605C829E}" type="presParOf" srcId="{DF9CEAEF-56E2-4BE0-BFAC-7D6A8FF0FE23}" destId="{3B6DAB00-CE36-4EE5-A96D-A04F39B8C7A9}" srcOrd="3" destOrd="0" presId="urn:microsoft.com/office/officeart/2018/2/layout/IconVerticalSolidList"/>
    <dgm:cxn modelId="{E5E43F74-10D3-4852-87DC-D6CBCB0210C2}" type="presParOf" srcId="{DF9CEAEF-56E2-4BE0-BFAC-7D6A8FF0FE23}" destId="{7582F653-B9E9-4AD3-BFA9-478FA4812E30}" srcOrd="4" destOrd="0" presId="urn:microsoft.com/office/officeart/2018/2/layout/IconVerticalSolidList"/>
    <dgm:cxn modelId="{040B394D-6EC4-4BA4-860C-EBBFE8960AA8}" type="presParOf" srcId="{7582F653-B9E9-4AD3-BFA9-478FA4812E30}" destId="{9D3EBDCF-F5EA-4A8D-AEF4-BB179D5084C5}" srcOrd="0" destOrd="0" presId="urn:microsoft.com/office/officeart/2018/2/layout/IconVerticalSolidList"/>
    <dgm:cxn modelId="{7176567D-3059-43B7-834A-024B074F0993}" type="presParOf" srcId="{7582F653-B9E9-4AD3-BFA9-478FA4812E30}" destId="{A5B517E0-499E-4D3A-B5B2-C62EA5204724}" srcOrd="1" destOrd="0" presId="urn:microsoft.com/office/officeart/2018/2/layout/IconVerticalSolidList"/>
    <dgm:cxn modelId="{1C1A0B97-E62C-4A82-B5F9-864CB11CDAEF}" type="presParOf" srcId="{7582F653-B9E9-4AD3-BFA9-478FA4812E30}" destId="{CFA0A60B-3466-4BC6-8FD8-72D9F3E97409}" srcOrd="2" destOrd="0" presId="urn:microsoft.com/office/officeart/2018/2/layout/IconVerticalSolidList"/>
    <dgm:cxn modelId="{0F36278E-13E8-4281-8378-24F4D6AD4A2C}" type="presParOf" srcId="{7582F653-B9E9-4AD3-BFA9-478FA4812E30}" destId="{7C347585-FC07-45B7-A320-8F1B2A5615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464426-F655-4309-8787-C78B145B11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092151-63D5-476E-A7AF-00F5D8919A74}">
      <dgm:prSet custT="1"/>
      <dgm:spPr/>
      <dgm:t>
        <a:bodyPr/>
        <a:lstStyle/>
        <a:p>
          <a:r>
            <a:rPr lang="en-US" sz="2000" dirty="0"/>
            <a:t>Blocked ingestion of FAERS and clinical trial data</a:t>
          </a:r>
        </a:p>
      </dgm:t>
    </dgm:pt>
    <dgm:pt modelId="{CE0A9320-7B3C-488C-BCBF-007ED8F0E023}" type="parTrans" cxnId="{9ACD69E3-1AAD-4C7A-BAD0-BFDEEF549955}">
      <dgm:prSet/>
      <dgm:spPr/>
      <dgm:t>
        <a:bodyPr/>
        <a:lstStyle/>
        <a:p>
          <a:endParaRPr lang="en-US"/>
        </a:p>
      </dgm:t>
    </dgm:pt>
    <dgm:pt modelId="{5D0C45DD-CD19-49E3-800E-B2A0EEFB35CA}" type="sibTrans" cxnId="{9ACD69E3-1AAD-4C7A-BAD0-BFDEEF549955}">
      <dgm:prSet/>
      <dgm:spPr/>
      <dgm:t>
        <a:bodyPr/>
        <a:lstStyle/>
        <a:p>
          <a:endParaRPr lang="en-US"/>
        </a:p>
      </dgm:t>
    </dgm:pt>
    <dgm:pt modelId="{3E31654B-7DAB-460E-9678-12C4D7968006}">
      <dgm:prSet custT="1"/>
      <dgm:spPr/>
      <dgm:t>
        <a:bodyPr/>
        <a:lstStyle/>
        <a:p>
          <a:r>
            <a:rPr lang="en-US" sz="2000" dirty="0"/>
            <a:t>Inconsistent structure across FAERS quarterly files</a:t>
          </a:r>
        </a:p>
      </dgm:t>
    </dgm:pt>
    <dgm:pt modelId="{565522B3-03EC-455F-BEFE-BABE816805A3}" type="parTrans" cxnId="{9750145B-55DB-4D41-B7B8-EDE98C5188F5}">
      <dgm:prSet/>
      <dgm:spPr/>
      <dgm:t>
        <a:bodyPr/>
        <a:lstStyle/>
        <a:p>
          <a:endParaRPr lang="en-US"/>
        </a:p>
      </dgm:t>
    </dgm:pt>
    <dgm:pt modelId="{66A02B3E-13CC-4627-8867-C71AB136F0B7}" type="sibTrans" cxnId="{9750145B-55DB-4D41-B7B8-EDE98C5188F5}">
      <dgm:prSet/>
      <dgm:spPr/>
      <dgm:t>
        <a:bodyPr/>
        <a:lstStyle/>
        <a:p>
          <a:endParaRPr lang="en-US"/>
        </a:p>
      </dgm:t>
    </dgm:pt>
    <dgm:pt modelId="{5180BA78-1C10-4182-A099-DFE318DF0BB9}">
      <dgm:prSet custT="1"/>
      <dgm:spPr/>
      <dgm:t>
        <a:bodyPr/>
        <a:lstStyle/>
        <a:p>
          <a:r>
            <a:rPr lang="en-US" sz="2000" dirty="0"/>
            <a:t>Drug name normalization across datasets</a:t>
          </a:r>
        </a:p>
      </dgm:t>
    </dgm:pt>
    <dgm:pt modelId="{9AD15181-6B88-4F7D-8216-75AB5E7B40CF}" type="parTrans" cxnId="{514346D1-8FEF-4949-9E3C-2B49A9FF62A3}">
      <dgm:prSet/>
      <dgm:spPr/>
      <dgm:t>
        <a:bodyPr/>
        <a:lstStyle/>
        <a:p>
          <a:endParaRPr lang="en-US"/>
        </a:p>
      </dgm:t>
    </dgm:pt>
    <dgm:pt modelId="{B1F9EF53-49D7-4C3C-8403-2CF1A9523AAD}" type="sibTrans" cxnId="{514346D1-8FEF-4949-9E3C-2B49A9FF62A3}">
      <dgm:prSet/>
      <dgm:spPr/>
      <dgm:t>
        <a:bodyPr/>
        <a:lstStyle/>
        <a:p>
          <a:endParaRPr lang="en-US"/>
        </a:p>
      </dgm:t>
    </dgm:pt>
    <dgm:pt modelId="{EFA53263-8F62-453F-A660-381D54FB7D0E}" type="pres">
      <dgm:prSet presAssocID="{C6464426-F655-4309-8787-C78B145B110F}" presName="linear" presStyleCnt="0">
        <dgm:presLayoutVars>
          <dgm:animLvl val="lvl"/>
          <dgm:resizeHandles val="exact"/>
        </dgm:presLayoutVars>
      </dgm:prSet>
      <dgm:spPr/>
    </dgm:pt>
    <dgm:pt modelId="{186B4EDB-B726-4B4A-B805-B9B64A20836D}" type="pres">
      <dgm:prSet presAssocID="{64092151-63D5-476E-A7AF-00F5D8919A74}" presName="parentText" presStyleLbl="node1" presStyleIdx="0" presStyleCnt="3" custLinFactY="-50635" custLinFactNeighborY="-100000">
        <dgm:presLayoutVars>
          <dgm:chMax val="0"/>
          <dgm:bulletEnabled val="1"/>
        </dgm:presLayoutVars>
      </dgm:prSet>
      <dgm:spPr/>
    </dgm:pt>
    <dgm:pt modelId="{84048B0C-AAD5-40B1-8AD3-6990CF0BD681}" type="pres">
      <dgm:prSet presAssocID="{5D0C45DD-CD19-49E3-800E-B2A0EEFB35CA}" presName="spacer" presStyleCnt="0"/>
      <dgm:spPr/>
    </dgm:pt>
    <dgm:pt modelId="{22CE8664-4BBF-4888-839C-5AF196BDF4B0}" type="pres">
      <dgm:prSet presAssocID="{3E31654B-7DAB-460E-9678-12C4D7968006}" presName="parentText" presStyleLbl="node1" presStyleIdx="1" presStyleCnt="3" custLinFactNeighborY="-89763">
        <dgm:presLayoutVars>
          <dgm:chMax val="0"/>
          <dgm:bulletEnabled val="1"/>
        </dgm:presLayoutVars>
      </dgm:prSet>
      <dgm:spPr/>
    </dgm:pt>
    <dgm:pt modelId="{8A130756-72DB-4CF4-B3B0-A8EA9DF53110}" type="pres">
      <dgm:prSet presAssocID="{66A02B3E-13CC-4627-8867-C71AB136F0B7}" presName="spacer" presStyleCnt="0"/>
      <dgm:spPr/>
    </dgm:pt>
    <dgm:pt modelId="{9C19BEED-EFAB-4B31-AEBD-577AE72400E7}" type="pres">
      <dgm:prSet presAssocID="{5180BA78-1C10-4182-A099-DFE318DF0BB9}" presName="parentText" presStyleLbl="node1" presStyleIdx="2" presStyleCnt="3" custLinFactY="-11832" custLinFactNeighborY="-100000">
        <dgm:presLayoutVars>
          <dgm:chMax val="0"/>
          <dgm:bulletEnabled val="1"/>
        </dgm:presLayoutVars>
      </dgm:prSet>
      <dgm:spPr/>
    </dgm:pt>
  </dgm:ptLst>
  <dgm:cxnLst>
    <dgm:cxn modelId="{8DAA183C-AB33-4A8F-81BC-AAAFF954920D}" type="presOf" srcId="{3E31654B-7DAB-460E-9678-12C4D7968006}" destId="{22CE8664-4BBF-4888-839C-5AF196BDF4B0}" srcOrd="0" destOrd="0" presId="urn:microsoft.com/office/officeart/2005/8/layout/vList2"/>
    <dgm:cxn modelId="{9750145B-55DB-4D41-B7B8-EDE98C5188F5}" srcId="{C6464426-F655-4309-8787-C78B145B110F}" destId="{3E31654B-7DAB-460E-9678-12C4D7968006}" srcOrd="1" destOrd="0" parTransId="{565522B3-03EC-455F-BEFE-BABE816805A3}" sibTransId="{66A02B3E-13CC-4627-8867-C71AB136F0B7}"/>
    <dgm:cxn modelId="{57E4F661-9228-4362-B69D-04170FAF705D}" type="presOf" srcId="{5180BA78-1C10-4182-A099-DFE318DF0BB9}" destId="{9C19BEED-EFAB-4B31-AEBD-577AE72400E7}" srcOrd="0" destOrd="0" presId="urn:microsoft.com/office/officeart/2005/8/layout/vList2"/>
    <dgm:cxn modelId="{48375F9F-3FBE-442D-80A7-F7B0C6BA9C62}" type="presOf" srcId="{C6464426-F655-4309-8787-C78B145B110F}" destId="{EFA53263-8F62-453F-A660-381D54FB7D0E}" srcOrd="0" destOrd="0" presId="urn:microsoft.com/office/officeart/2005/8/layout/vList2"/>
    <dgm:cxn modelId="{514346D1-8FEF-4949-9E3C-2B49A9FF62A3}" srcId="{C6464426-F655-4309-8787-C78B145B110F}" destId="{5180BA78-1C10-4182-A099-DFE318DF0BB9}" srcOrd="2" destOrd="0" parTransId="{9AD15181-6B88-4F7D-8216-75AB5E7B40CF}" sibTransId="{B1F9EF53-49D7-4C3C-8403-2CF1A9523AAD}"/>
    <dgm:cxn modelId="{9ACD69E3-1AAD-4C7A-BAD0-BFDEEF549955}" srcId="{C6464426-F655-4309-8787-C78B145B110F}" destId="{64092151-63D5-476E-A7AF-00F5D8919A74}" srcOrd="0" destOrd="0" parTransId="{CE0A9320-7B3C-488C-BCBF-007ED8F0E023}" sibTransId="{5D0C45DD-CD19-49E3-800E-B2A0EEFB35CA}"/>
    <dgm:cxn modelId="{A58352FC-6BEA-4AA7-9186-52281E170DF8}" type="presOf" srcId="{64092151-63D5-476E-A7AF-00F5D8919A74}" destId="{186B4EDB-B726-4B4A-B805-B9B64A20836D}" srcOrd="0" destOrd="0" presId="urn:microsoft.com/office/officeart/2005/8/layout/vList2"/>
    <dgm:cxn modelId="{03E01411-2EAB-427B-8765-AF15787658FC}" type="presParOf" srcId="{EFA53263-8F62-453F-A660-381D54FB7D0E}" destId="{186B4EDB-B726-4B4A-B805-B9B64A20836D}" srcOrd="0" destOrd="0" presId="urn:microsoft.com/office/officeart/2005/8/layout/vList2"/>
    <dgm:cxn modelId="{8A2DB82A-A6E0-4886-87D5-FA0780941251}" type="presParOf" srcId="{EFA53263-8F62-453F-A660-381D54FB7D0E}" destId="{84048B0C-AAD5-40B1-8AD3-6990CF0BD681}" srcOrd="1" destOrd="0" presId="urn:microsoft.com/office/officeart/2005/8/layout/vList2"/>
    <dgm:cxn modelId="{8F6BD870-08D6-466F-8149-FCCD191D88E8}" type="presParOf" srcId="{EFA53263-8F62-453F-A660-381D54FB7D0E}" destId="{22CE8664-4BBF-4888-839C-5AF196BDF4B0}" srcOrd="2" destOrd="0" presId="urn:microsoft.com/office/officeart/2005/8/layout/vList2"/>
    <dgm:cxn modelId="{17BB51EB-366E-427F-A0A4-9366A1F7E50C}" type="presParOf" srcId="{EFA53263-8F62-453F-A660-381D54FB7D0E}" destId="{8A130756-72DB-4CF4-B3B0-A8EA9DF53110}" srcOrd="3" destOrd="0" presId="urn:microsoft.com/office/officeart/2005/8/layout/vList2"/>
    <dgm:cxn modelId="{AE38C80C-59BD-4514-8398-7347202B7DF1}" type="presParOf" srcId="{EFA53263-8F62-453F-A660-381D54FB7D0E}" destId="{9C19BEED-EFAB-4B31-AEBD-577AE72400E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8663D3-75A2-41BA-8760-CAA1295ED85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E63023-67CE-4167-AA90-874CAF7B1F3D}">
      <dgm:prSet/>
      <dgm:spPr/>
      <dgm:t>
        <a:bodyPr/>
        <a:lstStyle/>
        <a:p>
          <a:r>
            <a:rPr lang="en-US"/>
            <a:t>Finish first gold layer model in dbt</a:t>
          </a:r>
        </a:p>
      </dgm:t>
    </dgm:pt>
    <dgm:pt modelId="{4BC82BC7-FA6C-44C5-A536-059D5B870028}" type="parTrans" cxnId="{D1C34ABC-0107-4453-B225-FDC31DE2140B}">
      <dgm:prSet/>
      <dgm:spPr/>
      <dgm:t>
        <a:bodyPr/>
        <a:lstStyle/>
        <a:p>
          <a:endParaRPr lang="en-US"/>
        </a:p>
      </dgm:t>
    </dgm:pt>
    <dgm:pt modelId="{D51C6A02-8DDF-43A1-95D3-9351A98CC182}" type="sibTrans" cxnId="{D1C34ABC-0107-4453-B225-FDC31DE2140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6E60C25-1D2F-4A05-8E63-E5C073D28487}">
      <dgm:prSet/>
      <dgm:spPr/>
      <dgm:t>
        <a:bodyPr/>
        <a:lstStyle/>
        <a:p>
          <a:r>
            <a:rPr lang="en-US"/>
            <a:t>Silver layer cleaning has already been started</a:t>
          </a:r>
        </a:p>
      </dgm:t>
    </dgm:pt>
    <dgm:pt modelId="{23413C7B-824E-4E79-8842-F52C83030C9B}" type="parTrans" cxnId="{F607F083-84CA-4C04-A88C-67A372BDA431}">
      <dgm:prSet/>
      <dgm:spPr/>
      <dgm:t>
        <a:bodyPr/>
        <a:lstStyle/>
        <a:p>
          <a:endParaRPr lang="en-US"/>
        </a:p>
      </dgm:t>
    </dgm:pt>
    <dgm:pt modelId="{B6E2FA4B-D53C-4BC0-902C-436FD2C17F9C}" type="sibTrans" cxnId="{F607F083-84CA-4C04-A88C-67A372BDA431}">
      <dgm:prSet/>
      <dgm:spPr/>
      <dgm:t>
        <a:bodyPr/>
        <a:lstStyle/>
        <a:p>
          <a:endParaRPr lang="en-US"/>
        </a:p>
      </dgm:t>
    </dgm:pt>
    <dgm:pt modelId="{977E0CB5-7156-45E1-AE0A-EE36CC12114B}">
      <dgm:prSet/>
      <dgm:spPr/>
      <dgm:t>
        <a:bodyPr/>
        <a:lstStyle/>
        <a:p>
          <a:r>
            <a:rPr lang="en-US"/>
            <a:t>Set up dags in Airflow for ingestion and running dbt models</a:t>
          </a:r>
        </a:p>
      </dgm:t>
    </dgm:pt>
    <dgm:pt modelId="{92E6847C-0FAC-4AD5-8880-3C62ADCC1DEC}" type="parTrans" cxnId="{573FF656-4D6D-48B0-ADA6-FD527CBE3B0D}">
      <dgm:prSet/>
      <dgm:spPr/>
      <dgm:t>
        <a:bodyPr/>
        <a:lstStyle/>
        <a:p>
          <a:endParaRPr lang="en-US"/>
        </a:p>
      </dgm:t>
    </dgm:pt>
    <dgm:pt modelId="{3288711B-E392-4900-8976-887DCDCC6144}" type="sibTrans" cxnId="{573FF656-4D6D-48B0-ADA6-FD527CBE3B0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97E5536-9679-48EE-BD54-AEB9E0EDA213}">
      <dgm:prSet/>
      <dgm:spPr/>
      <dgm:t>
        <a:bodyPr/>
        <a:lstStyle/>
        <a:p>
          <a:r>
            <a:rPr lang="en-US"/>
            <a:t>Basic dag structure is set up – just need a final dbt model to justify testing it</a:t>
          </a:r>
        </a:p>
      </dgm:t>
    </dgm:pt>
    <dgm:pt modelId="{62CB9EC9-362C-4691-86EE-A3CE47A7741D}" type="parTrans" cxnId="{075E5B5B-5B09-42E0-AAF1-E2F2BB057FF8}">
      <dgm:prSet/>
      <dgm:spPr/>
      <dgm:t>
        <a:bodyPr/>
        <a:lstStyle/>
        <a:p>
          <a:endParaRPr lang="en-US"/>
        </a:p>
      </dgm:t>
    </dgm:pt>
    <dgm:pt modelId="{FD027203-D464-4913-91A5-368B45E22E37}" type="sibTrans" cxnId="{075E5B5B-5B09-42E0-AAF1-E2F2BB057FF8}">
      <dgm:prSet/>
      <dgm:spPr/>
      <dgm:t>
        <a:bodyPr/>
        <a:lstStyle/>
        <a:p>
          <a:endParaRPr lang="en-US"/>
        </a:p>
      </dgm:t>
    </dgm:pt>
    <dgm:pt modelId="{603CE05C-5DD4-439E-92A0-C01497810396}">
      <dgm:prSet/>
      <dgm:spPr/>
      <dgm:t>
        <a:bodyPr/>
        <a:lstStyle/>
        <a:p>
          <a:r>
            <a:rPr lang="en-US"/>
            <a:t>Create a dashboard in streamlit to help visualize the value of this framework</a:t>
          </a:r>
        </a:p>
      </dgm:t>
    </dgm:pt>
    <dgm:pt modelId="{574A7E4E-130D-432D-AD77-E03EE94289FA}" type="parTrans" cxnId="{A7C893F6-B7CB-4DD2-ADC3-D3DADB7B2B36}">
      <dgm:prSet/>
      <dgm:spPr/>
      <dgm:t>
        <a:bodyPr/>
        <a:lstStyle/>
        <a:p>
          <a:endParaRPr lang="en-US"/>
        </a:p>
      </dgm:t>
    </dgm:pt>
    <dgm:pt modelId="{E7B965BE-860D-4D88-8D29-89C654CD0707}" type="sibTrans" cxnId="{A7C893F6-B7CB-4DD2-ADC3-D3DADB7B2B3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EE722CF-58F1-4B03-A419-650ECD36A939}" type="pres">
      <dgm:prSet presAssocID="{F08663D3-75A2-41BA-8760-CAA1295ED852}" presName="Name0" presStyleCnt="0">
        <dgm:presLayoutVars>
          <dgm:animLvl val="lvl"/>
          <dgm:resizeHandles val="exact"/>
        </dgm:presLayoutVars>
      </dgm:prSet>
      <dgm:spPr/>
    </dgm:pt>
    <dgm:pt modelId="{4750B4BE-DA9C-4751-8CEE-744DAF3D46C6}" type="pres">
      <dgm:prSet presAssocID="{0BE63023-67CE-4167-AA90-874CAF7B1F3D}" presName="compositeNode" presStyleCnt="0">
        <dgm:presLayoutVars>
          <dgm:bulletEnabled val="1"/>
        </dgm:presLayoutVars>
      </dgm:prSet>
      <dgm:spPr/>
    </dgm:pt>
    <dgm:pt modelId="{7C4912E6-7632-434C-B4A7-7CEB0153AF01}" type="pres">
      <dgm:prSet presAssocID="{0BE63023-67CE-4167-AA90-874CAF7B1F3D}" presName="bgRect" presStyleLbl="bgAccFollowNode1" presStyleIdx="0" presStyleCnt="3"/>
      <dgm:spPr/>
    </dgm:pt>
    <dgm:pt modelId="{F9932D8E-D0D2-4967-81E8-FFBC289161AE}" type="pres">
      <dgm:prSet presAssocID="{D51C6A02-8DDF-43A1-95D3-9351A98CC18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F085753-41D2-477C-BB46-DEF887D4BF68}" type="pres">
      <dgm:prSet presAssocID="{0BE63023-67CE-4167-AA90-874CAF7B1F3D}" presName="bottomLine" presStyleLbl="alignNode1" presStyleIdx="1" presStyleCnt="6">
        <dgm:presLayoutVars/>
      </dgm:prSet>
      <dgm:spPr/>
    </dgm:pt>
    <dgm:pt modelId="{D8F7EEEB-A26C-420A-A28E-6829F841C275}" type="pres">
      <dgm:prSet presAssocID="{0BE63023-67CE-4167-AA90-874CAF7B1F3D}" presName="nodeText" presStyleLbl="bgAccFollowNode1" presStyleIdx="0" presStyleCnt="3">
        <dgm:presLayoutVars>
          <dgm:bulletEnabled val="1"/>
        </dgm:presLayoutVars>
      </dgm:prSet>
      <dgm:spPr/>
    </dgm:pt>
    <dgm:pt modelId="{D169CA49-719F-48C5-AC1F-C63324DF4873}" type="pres">
      <dgm:prSet presAssocID="{D51C6A02-8DDF-43A1-95D3-9351A98CC182}" presName="sibTrans" presStyleCnt="0"/>
      <dgm:spPr/>
    </dgm:pt>
    <dgm:pt modelId="{EF0952BA-4735-461F-BEA3-D125D9D6E33C}" type="pres">
      <dgm:prSet presAssocID="{977E0CB5-7156-45E1-AE0A-EE36CC12114B}" presName="compositeNode" presStyleCnt="0">
        <dgm:presLayoutVars>
          <dgm:bulletEnabled val="1"/>
        </dgm:presLayoutVars>
      </dgm:prSet>
      <dgm:spPr/>
    </dgm:pt>
    <dgm:pt modelId="{50747893-5525-43FE-A59E-BB6482BB7E98}" type="pres">
      <dgm:prSet presAssocID="{977E0CB5-7156-45E1-AE0A-EE36CC12114B}" presName="bgRect" presStyleLbl="bgAccFollowNode1" presStyleIdx="1" presStyleCnt="3"/>
      <dgm:spPr/>
    </dgm:pt>
    <dgm:pt modelId="{04C6B30C-51AD-4858-BFA5-C7DEA0D0CA2F}" type="pres">
      <dgm:prSet presAssocID="{3288711B-E392-4900-8976-887DCDCC614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277813D-6C30-4554-A141-C3D7AE64800E}" type="pres">
      <dgm:prSet presAssocID="{977E0CB5-7156-45E1-AE0A-EE36CC12114B}" presName="bottomLine" presStyleLbl="alignNode1" presStyleIdx="3" presStyleCnt="6">
        <dgm:presLayoutVars/>
      </dgm:prSet>
      <dgm:spPr/>
    </dgm:pt>
    <dgm:pt modelId="{C3D5B8E5-6E83-4737-8304-2CF3783D7617}" type="pres">
      <dgm:prSet presAssocID="{977E0CB5-7156-45E1-AE0A-EE36CC12114B}" presName="nodeText" presStyleLbl="bgAccFollowNode1" presStyleIdx="1" presStyleCnt="3">
        <dgm:presLayoutVars>
          <dgm:bulletEnabled val="1"/>
        </dgm:presLayoutVars>
      </dgm:prSet>
      <dgm:spPr/>
    </dgm:pt>
    <dgm:pt modelId="{7205AB4C-685F-48F5-AA4F-D8C1A837C993}" type="pres">
      <dgm:prSet presAssocID="{3288711B-E392-4900-8976-887DCDCC6144}" presName="sibTrans" presStyleCnt="0"/>
      <dgm:spPr/>
    </dgm:pt>
    <dgm:pt modelId="{212EF5B2-B9F7-4AFC-AC8F-B9628134C965}" type="pres">
      <dgm:prSet presAssocID="{603CE05C-5DD4-439E-92A0-C01497810396}" presName="compositeNode" presStyleCnt="0">
        <dgm:presLayoutVars>
          <dgm:bulletEnabled val="1"/>
        </dgm:presLayoutVars>
      </dgm:prSet>
      <dgm:spPr/>
    </dgm:pt>
    <dgm:pt modelId="{696433A3-EF03-485F-9C96-FF8783691913}" type="pres">
      <dgm:prSet presAssocID="{603CE05C-5DD4-439E-92A0-C01497810396}" presName="bgRect" presStyleLbl="bgAccFollowNode1" presStyleIdx="2" presStyleCnt="3"/>
      <dgm:spPr/>
    </dgm:pt>
    <dgm:pt modelId="{A3945FAF-3DFE-42AD-A9DD-61AAB222380F}" type="pres">
      <dgm:prSet presAssocID="{E7B965BE-860D-4D88-8D29-89C654CD070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7189F96-76DA-4764-83F8-DDA13D7D029B}" type="pres">
      <dgm:prSet presAssocID="{603CE05C-5DD4-439E-92A0-C01497810396}" presName="bottomLine" presStyleLbl="alignNode1" presStyleIdx="5" presStyleCnt="6">
        <dgm:presLayoutVars/>
      </dgm:prSet>
      <dgm:spPr/>
    </dgm:pt>
    <dgm:pt modelId="{BB7C403A-BE37-4CF3-B171-C7D91F21B839}" type="pres">
      <dgm:prSet presAssocID="{603CE05C-5DD4-439E-92A0-C01497810396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75A542E-9938-42F6-9B0B-7C36A4A9BFEE}" type="presOf" srcId="{977E0CB5-7156-45E1-AE0A-EE36CC12114B}" destId="{50747893-5525-43FE-A59E-BB6482BB7E98}" srcOrd="0" destOrd="0" presId="urn:microsoft.com/office/officeart/2016/7/layout/BasicLinearProcessNumbered"/>
    <dgm:cxn modelId="{EB1DAE30-673D-4486-8054-072AF403425E}" type="presOf" srcId="{3288711B-E392-4900-8976-887DCDCC6144}" destId="{04C6B30C-51AD-4858-BFA5-C7DEA0D0CA2F}" srcOrd="0" destOrd="0" presId="urn:microsoft.com/office/officeart/2016/7/layout/BasicLinearProcessNumbered"/>
    <dgm:cxn modelId="{075E5B5B-5B09-42E0-AAF1-E2F2BB057FF8}" srcId="{977E0CB5-7156-45E1-AE0A-EE36CC12114B}" destId="{997E5536-9679-48EE-BD54-AEB9E0EDA213}" srcOrd="0" destOrd="0" parTransId="{62CB9EC9-362C-4691-86EE-A3CE47A7741D}" sibTransId="{FD027203-D464-4913-91A5-368B45E22E37}"/>
    <dgm:cxn modelId="{F7FF4E62-F889-4352-8CCC-D9AF422C2CA7}" type="presOf" srcId="{D51C6A02-8DDF-43A1-95D3-9351A98CC182}" destId="{F9932D8E-D0D2-4967-81E8-FFBC289161AE}" srcOrd="0" destOrd="0" presId="urn:microsoft.com/office/officeart/2016/7/layout/BasicLinearProcessNumbered"/>
    <dgm:cxn modelId="{C7469A45-7239-4B9D-8E2C-C2AB67C7AFC3}" type="presOf" srcId="{F08663D3-75A2-41BA-8760-CAA1295ED852}" destId="{EEE722CF-58F1-4B03-A419-650ECD36A939}" srcOrd="0" destOrd="0" presId="urn:microsoft.com/office/officeart/2016/7/layout/BasicLinearProcessNumbered"/>
    <dgm:cxn modelId="{C9880F4B-537F-402E-8B0E-BE38C28B0ECF}" type="presOf" srcId="{977E0CB5-7156-45E1-AE0A-EE36CC12114B}" destId="{C3D5B8E5-6E83-4737-8304-2CF3783D7617}" srcOrd="1" destOrd="0" presId="urn:microsoft.com/office/officeart/2016/7/layout/BasicLinearProcessNumbered"/>
    <dgm:cxn modelId="{4119A576-CF89-4C82-987D-CD33CD5BDF1A}" type="presOf" srcId="{603CE05C-5DD4-439E-92A0-C01497810396}" destId="{696433A3-EF03-485F-9C96-FF8783691913}" srcOrd="0" destOrd="0" presId="urn:microsoft.com/office/officeart/2016/7/layout/BasicLinearProcessNumbered"/>
    <dgm:cxn modelId="{573FF656-4D6D-48B0-ADA6-FD527CBE3B0D}" srcId="{F08663D3-75A2-41BA-8760-CAA1295ED852}" destId="{977E0CB5-7156-45E1-AE0A-EE36CC12114B}" srcOrd="1" destOrd="0" parTransId="{92E6847C-0FAC-4AD5-8880-3C62ADCC1DEC}" sibTransId="{3288711B-E392-4900-8976-887DCDCC6144}"/>
    <dgm:cxn modelId="{98A4E478-041C-447E-856D-D78EFFABA5F3}" type="presOf" srcId="{96E60C25-1D2F-4A05-8E63-E5C073D28487}" destId="{D8F7EEEB-A26C-420A-A28E-6829F841C275}" srcOrd="0" destOrd="1" presId="urn:microsoft.com/office/officeart/2016/7/layout/BasicLinearProcessNumbered"/>
    <dgm:cxn modelId="{F607F083-84CA-4C04-A88C-67A372BDA431}" srcId="{0BE63023-67CE-4167-AA90-874CAF7B1F3D}" destId="{96E60C25-1D2F-4A05-8E63-E5C073D28487}" srcOrd="0" destOrd="0" parTransId="{23413C7B-824E-4E79-8842-F52C83030C9B}" sibTransId="{B6E2FA4B-D53C-4BC0-902C-436FD2C17F9C}"/>
    <dgm:cxn modelId="{8FE7619C-56B4-4FBC-9CC8-260DE6217F8D}" type="presOf" srcId="{997E5536-9679-48EE-BD54-AEB9E0EDA213}" destId="{C3D5B8E5-6E83-4737-8304-2CF3783D7617}" srcOrd="0" destOrd="1" presId="urn:microsoft.com/office/officeart/2016/7/layout/BasicLinearProcessNumbered"/>
    <dgm:cxn modelId="{5C1565B1-FAEE-4137-8950-504B87D58C8C}" type="presOf" srcId="{E7B965BE-860D-4D88-8D29-89C654CD0707}" destId="{A3945FAF-3DFE-42AD-A9DD-61AAB222380F}" srcOrd="0" destOrd="0" presId="urn:microsoft.com/office/officeart/2016/7/layout/BasicLinearProcessNumbered"/>
    <dgm:cxn modelId="{D1C34ABC-0107-4453-B225-FDC31DE2140B}" srcId="{F08663D3-75A2-41BA-8760-CAA1295ED852}" destId="{0BE63023-67CE-4167-AA90-874CAF7B1F3D}" srcOrd="0" destOrd="0" parTransId="{4BC82BC7-FA6C-44C5-A536-059D5B870028}" sibTransId="{D51C6A02-8DDF-43A1-95D3-9351A98CC182}"/>
    <dgm:cxn modelId="{62F97ABC-CABC-47CD-BF8C-B93BC27F312E}" type="presOf" srcId="{603CE05C-5DD4-439E-92A0-C01497810396}" destId="{BB7C403A-BE37-4CF3-B171-C7D91F21B839}" srcOrd="1" destOrd="0" presId="urn:microsoft.com/office/officeart/2016/7/layout/BasicLinearProcessNumbered"/>
    <dgm:cxn modelId="{5804B8DE-E15A-4E81-9B85-506A12E5D061}" type="presOf" srcId="{0BE63023-67CE-4167-AA90-874CAF7B1F3D}" destId="{7C4912E6-7632-434C-B4A7-7CEB0153AF01}" srcOrd="0" destOrd="0" presId="urn:microsoft.com/office/officeart/2016/7/layout/BasicLinearProcessNumbered"/>
    <dgm:cxn modelId="{38F575E3-B87C-4A8B-B763-18F1C401F6DC}" type="presOf" srcId="{0BE63023-67CE-4167-AA90-874CAF7B1F3D}" destId="{D8F7EEEB-A26C-420A-A28E-6829F841C275}" srcOrd="1" destOrd="0" presId="urn:microsoft.com/office/officeart/2016/7/layout/BasicLinearProcessNumbered"/>
    <dgm:cxn modelId="{A7C893F6-B7CB-4DD2-ADC3-D3DADB7B2B36}" srcId="{F08663D3-75A2-41BA-8760-CAA1295ED852}" destId="{603CE05C-5DD4-439E-92A0-C01497810396}" srcOrd="2" destOrd="0" parTransId="{574A7E4E-130D-432D-AD77-E03EE94289FA}" sibTransId="{E7B965BE-860D-4D88-8D29-89C654CD0707}"/>
    <dgm:cxn modelId="{D9DA1421-026E-4AAD-BA58-D3C2A2EAB7FB}" type="presParOf" srcId="{EEE722CF-58F1-4B03-A419-650ECD36A939}" destId="{4750B4BE-DA9C-4751-8CEE-744DAF3D46C6}" srcOrd="0" destOrd="0" presId="urn:microsoft.com/office/officeart/2016/7/layout/BasicLinearProcessNumbered"/>
    <dgm:cxn modelId="{B672260C-AE04-446B-B410-577375E9C891}" type="presParOf" srcId="{4750B4BE-DA9C-4751-8CEE-744DAF3D46C6}" destId="{7C4912E6-7632-434C-B4A7-7CEB0153AF01}" srcOrd="0" destOrd="0" presId="urn:microsoft.com/office/officeart/2016/7/layout/BasicLinearProcessNumbered"/>
    <dgm:cxn modelId="{E3FA32E7-C172-41EE-A5C9-3C26265DB381}" type="presParOf" srcId="{4750B4BE-DA9C-4751-8CEE-744DAF3D46C6}" destId="{F9932D8E-D0D2-4967-81E8-FFBC289161AE}" srcOrd="1" destOrd="0" presId="urn:microsoft.com/office/officeart/2016/7/layout/BasicLinearProcessNumbered"/>
    <dgm:cxn modelId="{9A041900-47B1-4DF8-B2B4-8D49816D9893}" type="presParOf" srcId="{4750B4BE-DA9C-4751-8CEE-744DAF3D46C6}" destId="{1F085753-41D2-477C-BB46-DEF887D4BF68}" srcOrd="2" destOrd="0" presId="urn:microsoft.com/office/officeart/2016/7/layout/BasicLinearProcessNumbered"/>
    <dgm:cxn modelId="{42E367B6-2767-429F-AC14-6DF5D6049906}" type="presParOf" srcId="{4750B4BE-DA9C-4751-8CEE-744DAF3D46C6}" destId="{D8F7EEEB-A26C-420A-A28E-6829F841C275}" srcOrd="3" destOrd="0" presId="urn:microsoft.com/office/officeart/2016/7/layout/BasicLinearProcessNumbered"/>
    <dgm:cxn modelId="{64894205-9FB6-456E-91A4-EC90E77830E2}" type="presParOf" srcId="{EEE722CF-58F1-4B03-A419-650ECD36A939}" destId="{D169CA49-719F-48C5-AC1F-C63324DF4873}" srcOrd="1" destOrd="0" presId="urn:microsoft.com/office/officeart/2016/7/layout/BasicLinearProcessNumbered"/>
    <dgm:cxn modelId="{F2389C3D-27D2-47FF-B707-66EA69106CBA}" type="presParOf" srcId="{EEE722CF-58F1-4B03-A419-650ECD36A939}" destId="{EF0952BA-4735-461F-BEA3-D125D9D6E33C}" srcOrd="2" destOrd="0" presId="urn:microsoft.com/office/officeart/2016/7/layout/BasicLinearProcessNumbered"/>
    <dgm:cxn modelId="{CAD29797-A22B-45A8-B551-7E94A4DE7189}" type="presParOf" srcId="{EF0952BA-4735-461F-BEA3-D125D9D6E33C}" destId="{50747893-5525-43FE-A59E-BB6482BB7E98}" srcOrd="0" destOrd="0" presId="urn:microsoft.com/office/officeart/2016/7/layout/BasicLinearProcessNumbered"/>
    <dgm:cxn modelId="{6C4DBE89-43C6-4662-AC57-102A9CF9A00A}" type="presParOf" srcId="{EF0952BA-4735-461F-BEA3-D125D9D6E33C}" destId="{04C6B30C-51AD-4858-BFA5-C7DEA0D0CA2F}" srcOrd="1" destOrd="0" presId="urn:microsoft.com/office/officeart/2016/7/layout/BasicLinearProcessNumbered"/>
    <dgm:cxn modelId="{4E6F924D-A03A-4AF3-AAA9-52E3D4C5193C}" type="presParOf" srcId="{EF0952BA-4735-461F-BEA3-D125D9D6E33C}" destId="{3277813D-6C30-4554-A141-C3D7AE64800E}" srcOrd="2" destOrd="0" presId="urn:microsoft.com/office/officeart/2016/7/layout/BasicLinearProcessNumbered"/>
    <dgm:cxn modelId="{A3183FA7-6D75-4F1F-BBD2-2D5E4894AF3F}" type="presParOf" srcId="{EF0952BA-4735-461F-BEA3-D125D9D6E33C}" destId="{C3D5B8E5-6E83-4737-8304-2CF3783D7617}" srcOrd="3" destOrd="0" presId="urn:microsoft.com/office/officeart/2016/7/layout/BasicLinearProcessNumbered"/>
    <dgm:cxn modelId="{676B0EF5-810F-4FF1-A39A-BC6F54B8A0E7}" type="presParOf" srcId="{EEE722CF-58F1-4B03-A419-650ECD36A939}" destId="{7205AB4C-685F-48F5-AA4F-D8C1A837C993}" srcOrd="3" destOrd="0" presId="urn:microsoft.com/office/officeart/2016/7/layout/BasicLinearProcessNumbered"/>
    <dgm:cxn modelId="{21F9C916-A7AF-48DD-B5A4-A7932D34CC98}" type="presParOf" srcId="{EEE722CF-58F1-4B03-A419-650ECD36A939}" destId="{212EF5B2-B9F7-4AFC-AC8F-B9628134C965}" srcOrd="4" destOrd="0" presId="urn:microsoft.com/office/officeart/2016/7/layout/BasicLinearProcessNumbered"/>
    <dgm:cxn modelId="{5AA030C1-CA2A-4915-9311-40E028911819}" type="presParOf" srcId="{212EF5B2-B9F7-4AFC-AC8F-B9628134C965}" destId="{696433A3-EF03-485F-9C96-FF8783691913}" srcOrd="0" destOrd="0" presId="urn:microsoft.com/office/officeart/2016/7/layout/BasicLinearProcessNumbered"/>
    <dgm:cxn modelId="{A8705069-597D-4A57-BE4F-181315367950}" type="presParOf" srcId="{212EF5B2-B9F7-4AFC-AC8F-B9628134C965}" destId="{A3945FAF-3DFE-42AD-A9DD-61AAB222380F}" srcOrd="1" destOrd="0" presId="urn:microsoft.com/office/officeart/2016/7/layout/BasicLinearProcessNumbered"/>
    <dgm:cxn modelId="{9F4C8D73-09FA-42DD-85CE-1C736BDFAEF7}" type="presParOf" srcId="{212EF5B2-B9F7-4AFC-AC8F-B9628134C965}" destId="{E7189F96-76DA-4764-83F8-DDA13D7D029B}" srcOrd="2" destOrd="0" presId="urn:microsoft.com/office/officeart/2016/7/layout/BasicLinearProcessNumbered"/>
    <dgm:cxn modelId="{33C629FA-A66E-487F-B84B-ADD4FFD33D83}" type="presParOf" srcId="{212EF5B2-B9F7-4AFC-AC8F-B9628134C965}" destId="{BB7C403A-BE37-4CF3-B171-C7D91F21B83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D28B6-DF92-41F4-AE17-E472BD1B4B94}">
      <dsp:nvSpPr>
        <dsp:cNvPr id="0" name=""/>
        <dsp:cNvSpPr/>
      </dsp:nvSpPr>
      <dsp:spPr>
        <a:xfrm>
          <a:off x="0" y="20420"/>
          <a:ext cx="77724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Zip file ingestion from ClinicalTrials.gov</a:t>
          </a:r>
        </a:p>
      </dsp:txBody>
      <dsp:txXfrm>
        <a:off x="25759" y="46179"/>
        <a:ext cx="7720882" cy="476152"/>
      </dsp:txXfrm>
    </dsp:sp>
    <dsp:sp modelId="{6E692B19-A4AC-4F0F-A03F-0BF01AB31654}">
      <dsp:nvSpPr>
        <dsp:cNvPr id="0" name=""/>
        <dsp:cNvSpPr/>
      </dsp:nvSpPr>
      <dsp:spPr>
        <a:xfrm>
          <a:off x="0" y="611450"/>
          <a:ext cx="77724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Bulk JSON ingestion for Drugs@FDA</a:t>
          </a:r>
        </a:p>
      </dsp:txBody>
      <dsp:txXfrm>
        <a:off x="25759" y="637209"/>
        <a:ext cx="7720882" cy="476152"/>
      </dsp:txXfrm>
    </dsp:sp>
    <dsp:sp modelId="{1B42D75F-6D07-483D-B68B-C7F7CC825E76}">
      <dsp:nvSpPr>
        <dsp:cNvPr id="0" name=""/>
        <dsp:cNvSpPr/>
      </dsp:nvSpPr>
      <dsp:spPr>
        <a:xfrm>
          <a:off x="0" y="1202480"/>
          <a:ext cx="77724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Parallel FAERS quarterly file ingestion</a:t>
          </a:r>
        </a:p>
      </dsp:txBody>
      <dsp:txXfrm>
        <a:off x="25759" y="1228239"/>
        <a:ext cx="7720882" cy="476152"/>
      </dsp:txXfrm>
    </dsp:sp>
    <dsp:sp modelId="{2114A0DA-FBF5-4DE0-B1FE-845A1D427FBE}">
      <dsp:nvSpPr>
        <dsp:cNvPr id="0" name=""/>
        <dsp:cNvSpPr/>
      </dsp:nvSpPr>
      <dsp:spPr>
        <a:xfrm>
          <a:off x="0" y="1793510"/>
          <a:ext cx="77724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Ingestion of census data with API calls using </a:t>
          </a:r>
          <a:r>
            <a:rPr lang="en-US" sz="2200" kern="1200" dirty="0" err="1"/>
            <a:t>httpx</a:t>
          </a:r>
          <a:endParaRPr lang="en-US" sz="2200" kern="1200" dirty="0"/>
        </a:p>
      </dsp:txBody>
      <dsp:txXfrm>
        <a:off x="25759" y="1819269"/>
        <a:ext cx="7720882" cy="476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69AB3-EC2F-4C7D-A0F0-818BA2B60EDD}">
      <dsp:nvSpPr>
        <dsp:cNvPr id="0" name=""/>
        <dsp:cNvSpPr/>
      </dsp:nvSpPr>
      <dsp:spPr>
        <a:xfrm>
          <a:off x="0" y="445"/>
          <a:ext cx="7772400" cy="1042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234CCA-8BB3-4C7C-A76F-2B58EF021683}">
      <dsp:nvSpPr>
        <dsp:cNvPr id="0" name=""/>
        <dsp:cNvSpPr/>
      </dsp:nvSpPr>
      <dsp:spPr>
        <a:xfrm>
          <a:off x="315312" y="234975"/>
          <a:ext cx="573295" cy="573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85E57-4211-4DCC-92D5-D6FC4837AD9A}">
      <dsp:nvSpPr>
        <dsp:cNvPr id="0" name=""/>
        <dsp:cNvSpPr/>
      </dsp:nvSpPr>
      <dsp:spPr>
        <a:xfrm>
          <a:off x="1203919" y="445"/>
          <a:ext cx="6568480" cy="104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16" tIns="110316" rIns="110316" bIns="1103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BRONZE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Raw drug information, clinical trial data, adverse event data, and census data loaded into s3</a:t>
          </a:r>
        </a:p>
      </dsp:txBody>
      <dsp:txXfrm>
        <a:off x="1203919" y="445"/>
        <a:ext cx="6568480" cy="1042354"/>
      </dsp:txXfrm>
    </dsp:sp>
    <dsp:sp modelId="{FC00B657-D43A-443F-A09B-4748032B8FA5}">
      <dsp:nvSpPr>
        <dsp:cNvPr id="0" name=""/>
        <dsp:cNvSpPr/>
      </dsp:nvSpPr>
      <dsp:spPr>
        <a:xfrm>
          <a:off x="0" y="1303389"/>
          <a:ext cx="7772400" cy="1042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274B0-26E1-4EC3-AE5C-E0E118E9651C}">
      <dsp:nvSpPr>
        <dsp:cNvPr id="0" name=""/>
        <dsp:cNvSpPr/>
      </dsp:nvSpPr>
      <dsp:spPr>
        <a:xfrm>
          <a:off x="315312" y="1537918"/>
          <a:ext cx="573295" cy="573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998CC-C05D-4328-BA65-3F04AD90052C}">
      <dsp:nvSpPr>
        <dsp:cNvPr id="0" name=""/>
        <dsp:cNvSpPr/>
      </dsp:nvSpPr>
      <dsp:spPr>
        <a:xfrm>
          <a:off x="1203919" y="1303389"/>
          <a:ext cx="6568480" cy="104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16" tIns="110316" rIns="110316" bIns="1103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SILVER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Raw tables were cleaned, data types were assigned, any necessary extra columns were created (i.e. age group aggregation), and </a:t>
          </a:r>
          <a:r>
            <a:rPr lang="en-US" sz="1400" kern="1200" dirty="0" err="1">
              <a:solidFill>
                <a:schemeClr val="bg1"/>
              </a:solidFill>
            </a:rPr>
            <a:t>json</a:t>
          </a:r>
          <a:r>
            <a:rPr lang="en-US" sz="1400" kern="1200" dirty="0">
              <a:solidFill>
                <a:schemeClr val="bg1"/>
              </a:solidFill>
            </a:rPr>
            <a:t> layers were flattened</a:t>
          </a:r>
        </a:p>
      </dsp:txBody>
      <dsp:txXfrm>
        <a:off x="1203919" y="1303389"/>
        <a:ext cx="6568480" cy="1042354"/>
      </dsp:txXfrm>
    </dsp:sp>
    <dsp:sp modelId="{9D3EBDCF-F5EA-4A8D-AEF4-BB179D5084C5}">
      <dsp:nvSpPr>
        <dsp:cNvPr id="0" name=""/>
        <dsp:cNvSpPr/>
      </dsp:nvSpPr>
      <dsp:spPr>
        <a:xfrm>
          <a:off x="0" y="2606332"/>
          <a:ext cx="7772400" cy="10423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B517E0-499E-4D3A-B5B2-C62EA5204724}">
      <dsp:nvSpPr>
        <dsp:cNvPr id="0" name=""/>
        <dsp:cNvSpPr/>
      </dsp:nvSpPr>
      <dsp:spPr>
        <a:xfrm>
          <a:off x="315312" y="2840862"/>
          <a:ext cx="573295" cy="5732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47585-FC07-45B7-A320-8F1B2A561585}">
      <dsp:nvSpPr>
        <dsp:cNvPr id="0" name=""/>
        <dsp:cNvSpPr/>
      </dsp:nvSpPr>
      <dsp:spPr>
        <a:xfrm>
          <a:off x="1203919" y="2606332"/>
          <a:ext cx="6568480" cy="104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16" tIns="110316" rIns="110316" bIns="11031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GOLD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</a:rPr>
            <a:t>Final marts tables were created, tables were joined (i.e. by drug application number or drug generic or brand name), and important columns for analysis were chosen</a:t>
          </a:r>
        </a:p>
      </dsp:txBody>
      <dsp:txXfrm>
        <a:off x="1203919" y="2606332"/>
        <a:ext cx="6568480" cy="10423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6B4EDB-B726-4B4A-B805-B9B64A20836D}">
      <dsp:nvSpPr>
        <dsp:cNvPr id="0" name=""/>
        <dsp:cNvSpPr/>
      </dsp:nvSpPr>
      <dsp:spPr>
        <a:xfrm>
          <a:off x="0" y="0"/>
          <a:ext cx="7704894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Blocked ingestion of FAERS and clinical trial data</a:t>
          </a:r>
        </a:p>
      </dsp:txBody>
      <dsp:txXfrm>
        <a:off x="33812" y="33812"/>
        <a:ext cx="7637270" cy="625016"/>
      </dsp:txXfrm>
    </dsp:sp>
    <dsp:sp modelId="{22CE8664-4BBF-4888-839C-5AF196BDF4B0}">
      <dsp:nvSpPr>
        <dsp:cNvPr id="0" name=""/>
        <dsp:cNvSpPr/>
      </dsp:nvSpPr>
      <dsp:spPr>
        <a:xfrm>
          <a:off x="0" y="719623"/>
          <a:ext cx="7704894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Inconsistent structure across FAERS quarterly files</a:t>
          </a:r>
        </a:p>
      </dsp:txBody>
      <dsp:txXfrm>
        <a:off x="33812" y="753435"/>
        <a:ext cx="7637270" cy="625016"/>
      </dsp:txXfrm>
    </dsp:sp>
    <dsp:sp modelId="{9C19BEED-EFAB-4B31-AEBD-577AE72400E7}">
      <dsp:nvSpPr>
        <dsp:cNvPr id="0" name=""/>
        <dsp:cNvSpPr/>
      </dsp:nvSpPr>
      <dsp:spPr>
        <a:xfrm>
          <a:off x="0" y="1425961"/>
          <a:ext cx="7704894" cy="692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Drug name normalization across datasets</a:t>
          </a:r>
        </a:p>
      </dsp:txBody>
      <dsp:txXfrm>
        <a:off x="33812" y="1459773"/>
        <a:ext cx="7637270" cy="625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912E6-7632-434C-B4A7-7CEB0153AF01}">
      <dsp:nvSpPr>
        <dsp:cNvPr id="0" name=""/>
        <dsp:cNvSpPr/>
      </dsp:nvSpPr>
      <dsp:spPr>
        <a:xfrm>
          <a:off x="0" y="124353"/>
          <a:ext cx="2428875" cy="34004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365" tIns="330200" rIns="189365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Finish first gold layer model in dbt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Silver layer cleaning has already been started</a:t>
          </a:r>
        </a:p>
      </dsp:txBody>
      <dsp:txXfrm>
        <a:off x="0" y="1416515"/>
        <a:ext cx="2428875" cy="2040255"/>
      </dsp:txXfrm>
    </dsp:sp>
    <dsp:sp modelId="{F9932D8E-D0D2-4967-81E8-FFBC289161AE}">
      <dsp:nvSpPr>
        <dsp:cNvPr id="0" name=""/>
        <dsp:cNvSpPr/>
      </dsp:nvSpPr>
      <dsp:spPr>
        <a:xfrm>
          <a:off x="704373" y="464396"/>
          <a:ext cx="1020127" cy="1020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3" tIns="12700" rIns="7953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53767" y="613790"/>
        <a:ext cx="721339" cy="721339"/>
      </dsp:txXfrm>
    </dsp:sp>
    <dsp:sp modelId="{1F085753-41D2-477C-BB46-DEF887D4BF68}">
      <dsp:nvSpPr>
        <dsp:cNvPr id="0" name=""/>
        <dsp:cNvSpPr/>
      </dsp:nvSpPr>
      <dsp:spPr>
        <a:xfrm>
          <a:off x="0" y="3524707"/>
          <a:ext cx="242887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47893-5525-43FE-A59E-BB6482BB7E98}">
      <dsp:nvSpPr>
        <dsp:cNvPr id="0" name=""/>
        <dsp:cNvSpPr/>
      </dsp:nvSpPr>
      <dsp:spPr>
        <a:xfrm>
          <a:off x="2671762" y="124353"/>
          <a:ext cx="2428875" cy="34004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365" tIns="330200" rIns="189365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Set up dags in Airflow for ingestion and running dbt models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Basic dag structure is set up – just need a final dbt model to justify testing it</a:t>
          </a:r>
        </a:p>
      </dsp:txBody>
      <dsp:txXfrm>
        <a:off x="2671762" y="1416515"/>
        <a:ext cx="2428875" cy="2040255"/>
      </dsp:txXfrm>
    </dsp:sp>
    <dsp:sp modelId="{04C6B30C-51AD-4858-BFA5-C7DEA0D0CA2F}">
      <dsp:nvSpPr>
        <dsp:cNvPr id="0" name=""/>
        <dsp:cNvSpPr/>
      </dsp:nvSpPr>
      <dsp:spPr>
        <a:xfrm>
          <a:off x="3376136" y="464396"/>
          <a:ext cx="1020127" cy="1020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3" tIns="12700" rIns="7953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25530" y="613790"/>
        <a:ext cx="721339" cy="721339"/>
      </dsp:txXfrm>
    </dsp:sp>
    <dsp:sp modelId="{3277813D-6C30-4554-A141-C3D7AE64800E}">
      <dsp:nvSpPr>
        <dsp:cNvPr id="0" name=""/>
        <dsp:cNvSpPr/>
      </dsp:nvSpPr>
      <dsp:spPr>
        <a:xfrm>
          <a:off x="2671762" y="3524707"/>
          <a:ext cx="242887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433A3-EF03-485F-9C96-FF8783691913}">
      <dsp:nvSpPr>
        <dsp:cNvPr id="0" name=""/>
        <dsp:cNvSpPr/>
      </dsp:nvSpPr>
      <dsp:spPr>
        <a:xfrm>
          <a:off x="5343525" y="124353"/>
          <a:ext cx="2428875" cy="34004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365" tIns="330200" rIns="189365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 a dashboard in streamlit to help visualize the value of this framework</a:t>
          </a:r>
        </a:p>
      </dsp:txBody>
      <dsp:txXfrm>
        <a:off x="5343525" y="1416515"/>
        <a:ext cx="2428875" cy="2040255"/>
      </dsp:txXfrm>
    </dsp:sp>
    <dsp:sp modelId="{A3945FAF-3DFE-42AD-A9DD-61AAB222380F}">
      <dsp:nvSpPr>
        <dsp:cNvPr id="0" name=""/>
        <dsp:cNvSpPr/>
      </dsp:nvSpPr>
      <dsp:spPr>
        <a:xfrm>
          <a:off x="6047898" y="464396"/>
          <a:ext cx="1020127" cy="10201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3" tIns="12700" rIns="7953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197292" y="613790"/>
        <a:ext cx="721339" cy="721339"/>
      </dsp:txXfrm>
    </dsp:sp>
    <dsp:sp modelId="{E7189F96-76DA-4764-83F8-DDA13D7D029B}">
      <dsp:nvSpPr>
        <dsp:cNvPr id="0" name=""/>
        <dsp:cNvSpPr/>
      </dsp:nvSpPr>
      <dsp:spPr>
        <a:xfrm>
          <a:off x="5343525" y="3524707"/>
          <a:ext cx="242887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7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9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6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7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9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97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6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9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1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8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38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07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17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54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74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85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5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1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47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jpe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9328" y="2368849"/>
            <a:ext cx="5714228" cy="1298864"/>
          </a:xfrm>
        </p:spPr>
        <p:txBody>
          <a:bodyPr>
            <a:normAutofit fontScale="90000"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Adverse Drug </a:t>
            </a:r>
            <a:r>
              <a:rPr lang="en-US" dirty="0">
                <a:solidFill>
                  <a:schemeClr val="bg1"/>
                </a:solidFill>
              </a:rPr>
              <a:t>Reaction Demographic </a:t>
            </a:r>
            <a:r>
              <a:rPr dirty="0">
                <a:solidFill>
                  <a:schemeClr val="bg1"/>
                </a:solidFill>
              </a:rPr>
              <a:t>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9328" y="3667715"/>
            <a:ext cx="5714228" cy="1405467"/>
          </a:xfrm>
        </p:spPr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</a:rPr>
              <a:t>A Framework for FDA</a:t>
            </a:r>
            <a:r>
              <a:rPr lang="en-US" dirty="0">
                <a:solidFill>
                  <a:schemeClr val="bg1"/>
                </a:solidFill>
              </a:rPr>
              <a:t>-Approved Drugs</a:t>
            </a:r>
            <a:r>
              <a:rPr dirty="0">
                <a:solidFill>
                  <a:schemeClr val="bg1"/>
                </a:solidFill>
              </a:rPr>
              <a:t>, Clinical Trials, </a:t>
            </a:r>
            <a:r>
              <a:rPr lang="en-US" dirty="0">
                <a:solidFill>
                  <a:schemeClr val="bg1"/>
                </a:solidFill>
              </a:rPr>
              <a:t>Adverse Events</a:t>
            </a:r>
            <a:r>
              <a:rPr dirty="0">
                <a:solidFill>
                  <a:schemeClr val="bg1"/>
                </a:solidFill>
              </a:rPr>
              <a:t>, and Census Data</a:t>
            </a:r>
          </a:p>
          <a:p>
            <a:pPr algn="ctr"/>
            <a:r>
              <a:rPr dirty="0">
                <a:solidFill>
                  <a:schemeClr val="bg1"/>
                </a:solidFill>
              </a:rPr>
              <a:t>Alex </a:t>
            </a:r>
            <a:r>
              <a:rPr lang="en-US" dirty="0">
                <a:solidFill>
                  <a:schemeClr val="bg1"/>
                </a:solidFill>
              </a:rPr>
              <a:t>Balli </a:t>
            </a:r>
            <a:r>
              <a:rPr dirty="0">
                <a:solidFill>
                  <a:schemeClr val="bg1"/>
                </a:solidFill>
              </a:rPr>
              <a:t>—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587097"/>
          </a:xfrm>
        </p:spPr>
        <p:txBody>
          <a:bodyPr anchor="t"/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412"/>
            <a:ext cx="7772400" cy="3649133"/>
          </a:xfrm>
        </p:spPr>
        <p:txBody>
          <a:bodyPr anchor="t">
            <a:normAutofit/>
          </a:bodyPr>
          <a:lstStyle/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Professional background in chemical engineering and product development for adhesives and rubber-based products.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Had an internship early in my career working with a team of data scientists that wanted to use clustering to help justify material consolidation for Work in Progress inventory at a manufacturing company.</a:t>
            </a:r>
          </a:p>
          <a:p>
            <a:pPr>
              <a:buClrTx/>
            </a:pPr>
            <a:r>
              <a:rPr lang="en-US" dirty="0"/>
              <a:t>Since then</a:t>
            </a:r>
            <a:r>
              <a:rPr lang="en-US" dirty="0">
                <a:solidFill>
                  <a:schemeClr val="bg1"/>
                </a:solidFill>
              </a:rPr>
              <a:t>, I leaned towards projects that involving machine learning and automation, leading me to data science and data engineering education through NSS.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728246"/>
          </a:xfrm>
        </p:spPr>
        <p:txBody>
          <a:bodyPr anchor="t"/>
          <a:lstStyle/>
          <a:p>
            <a:r>
              <a:rPr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8657"/>
            <a:ext cx="7772400" cy="36491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Early in my career, I had some interest in the pharmaceutical industry. For this project, I decided to combine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FDA approved drug information (</a:t>
            </a:r>
            <a:r>
              <a:rPr lang="en-US" dirty="0" err="1">
                <a:solidFill>
                  <a:schemeClr val="bg1"/>
                </a:solidFill>
              </a:rPr>
              <a:t>Drugs@FDA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Drug adverse event data (FAERS – FDA Adverse Event Report System)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Clinical trial data (ClinicalTrials.gov)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US Census data (census.gov)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framework should help people to analyze: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Drug adverse event information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How adverse event demographics relate to the general population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What related drugs may need investigation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</a:rPr>
              <a:t>How to improve clinical trials in the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CBFB-6E6E-1527-C6F6-4B523CAD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D2EB-C58D-5961-5E82-F32FAD97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85288"/>
          </a:xfrm>
        </p:spPr>
        <p:txBody>
          <a:bodyPr anchor="t"/>
          <a:lstStyle/>
          <a:p>
            <a:r>
              <a:rPr dirty="0"/>
              <a:t>System Architecture</a:t>
            </a:r>
          </a:p>
        </p:txBody>
      </p:sp>
      <p:pic>
        <p:nvPicPr>
          <p:cNvPr id="4" name="Picture 3" descr="Python (programming language) - Wikipedia">
            <a:extLst>
              <a:ext uri="{FF2B5EF4-FFF2-40B4-BE49-F238E27FC236}">
                <a16:creationId xmlns:a16="http://schemas.microsoft.com/office/drawing/2014/main" id="{4781B228-D3D0-AB13-B5E7-0B03C93D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45" y="5494693"/>
            <a:ext cx="753705" cy="7537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B1FA64-76A0-700E-5AA6-5E3D9523500D}"/>
              </a:ext>
            </a:extLst>
          </p:cNvPr>
          <p:cNvSpPr/>
          <p:nvPr/>
        </p:nvSpPr>
        <p:spPr>
          <a:xfrm>
            <a:off x="346363" y="4733901"/>
            <a:ext cx="1232174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Python Ingest with async and </a:t>
            </a:r>
            <a:r>
              <a:rPr lang="en-US" sz="1400" dirty="0" err="1"/>
              <a:t>httpx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608B5-5486-F6FE-3068-D64834997597}"/>
              </a:ext>
            </a:extLst>
          </p:cNvPr>
          <p:cNvSpPr/>
          <p:nvPr/>
        </p:nvSpPr>
        <p:spPr>
          <a:xfrm>
            <a:off x="345132" y="3546341"/>
            <a:ext cx="1233405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API Calls and Raw Data Files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3CC583-EB8C-B203-A56A-68CC1BC47A6C}"/>
              </a:ext>
            </a:extLst>
          </p:cNvPr>
          <p:cNvCxnSpPr>
            <a:cxnSpLocks/>
          </p:cNvCxnSpPr>
          <p:nvPr/>
        </p:nvCxnSpPr>
        <p:spPr>
          <a:xfrm flipV="1">
            <a:off x="1285929" y="4184193"/>
            <a:ext cx="0" cy="489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E04701-33D8-8376-EAD7-F772BAE4EC8F}"/>
              </a:ext>
            </a:extLst>
          </p:cNvPr>
          <p:cNvCxnSpPr>
            <a:cxnSpLocks/>
          </p:cNvCxnSpPr>
          <p:nvPr/>
        </p:nvCxnSpPr>
        <p:spPr>
          <a:xfrm>
            <a:off x="734190" y="4198733"/>
            <a:ext cx="0" cy="474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B968F3-C044-96DB-FF55-435DD2B152B6}"/>
              </a:ext>
            </a:extLst>
          </p:cNvPr>
          <p:cNvCxnSpPr>
            <a:cxnSpLocks/>
          </p:cNvCxnSpPr>
          <p:nvPr/>
        </p:nvCxnSpPr>
        <p:spPr>
          <a:xfrm>
            <a:off x="1578537" y="5035397"/>
            <a:ext cx="536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71A1211-52A3-DC00-E47C-8CA517CFA8A9}"/>
              </a:ext>
            </a:extLst>
          </p:cNvPr>
          <p:cNvSpPr/>
          <p:nvPr/>
        </p:nvSpPr>
        <p:spPr>
          <a:xfrm>
            <a:off x="2182563" y="4733901"/>
            <a:ext cx="1034622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Upload to AWS S3 as Parquet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B778E7-C1D3-42F9-F9A5-AEF871AC3C7F}"/>
              </a:ext>
            </a:extLst>
          </p:cNvPr>
          <p:cNvSpPr/>
          <p:nvPr/>
        </p:nvSpPr>
        <p:spPr>
          <a:xfrm>
            <a:off x="3669987" y="4751915"/>
            <a:ext cx="1034622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Python Load Database</a:t>
            </a:r>
          </a:p>
        </p:txBody>
      </p: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id="{47DD815A-03F8-15A3-1F1C-A61904C2939F}"/>
              </a:ext>
            </a:extLst>
          </p:cNvPr>
          <p:cNvSpPr/>
          <p:nvPr/>
        </p:nvSpPr>
        <p:spPr>
          <a:xfrm>
            <a:off x="5053385" y="4328060"/>
            <a:ext cx="1168432" cy="115617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Snowflake</a:t>
            </a:r>
          </a:p>
          <a:p>
            <a:pPr algn="ctr"/>
            <a:r>
              <a:rPr lang="en-US" dirty="0"/>
              <a:t>Database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F955E39-058E-99DA-F0EE-F75C5894D17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122946" y="4009558"/>
            <a:ext cx="48916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6E349F2-B441-A4E7-6734-6CCB31F89F13}"/>
              </a:ext>
            </a:extLst>
          </p:cNvPr>
          <p:cNvSpPr/>
          <p:nvPr/>
        </p:nvSpPr>
        <p:spPr>
          <a:xfrm>
            <a:off x="4955197" y="3120569"/>
            <a:ext cx="1364808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 staging and marts tables with </a:t>
            </a:r>
            <a:r>
              <a:rPr lang="en-US" sz="1400" dirty="0" err="1"/>
              <a:t>dbt</a:t>
            </a:r>
            <a:endParaRPr lang="en-US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C286E4-5108-876A-7CA5-1CA3AECF6A72}"/>
              </a:ext>
            </a:extLst>
          </p:cNvPr>
          <p:cNvCxnSpPr>
            <a:cxnSpLocks/>
          </p:cNvCxnSpPr>
          <p:nvPr/>
        </p:nvCxnSpPr>
        <p:spPr>
          <a:xfrm>
            <a:off x="5878836" y="3798024"/>
            <a:ext cx="0" cy="456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BC85B0-701A-8403-5945-39671934DA88}"/>
              </a:ext>
            </a:extLst>
          </p:cNvPr>
          <p:cNvCxnSpPr>
            <a:cxnSpLocks/>
          </p:cNvCxnSpPr>
          <p:nvPr/>
        </p:nvCxnSpPr>
        <p:spPr>
          <a:xfrm>
            <a:off x="6246364" y="5029402"/>
            <a:ext cx="7137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D6C17-A6FD-5111-94C0-6B55888B1612}"/>
              </a:ext>
            </a:extLst>
          </p:cNvPr>
          <p:cNvSpPr/>
          <p:nvPr/>
        </p:nvSpPr>
        <p:spPr>
          <a:xfrm>
            <a:off x="6984640" y="4737508"/>
            <a:ext cx="1034622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Dashboard with </a:t>
            </a:r>
            <a:r>
              <a:rPr lang="en-US" sz="1400" dirty="0" err="1"/>
              <a:t>Streamlit</a:t>
            </a:r>
            <a:endParaRPr lang="en-US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AC3D1FC-8FEB-58AC-B7A4-F4F8137E956F}"/>
              </a:ext>
            </a:extLst>
          </p:cNvPr>
          <p:cNvCxnSpPr>
            <a:cxnSpLocks/>
          </p:cNvCxnSpPr>
          <p:nvPr/>
        </p:nvCxnSpPr>
        <p:spPr>
          <a:xfrm>
            <a:off x="3284436" y="5083545"/>
            <a:ext cx="31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94D4D7C-0363-0B57-B9C4-11B13144D8D3}"/>
              </a:ext>
            </a:extLst>
          </p:cNvPr>
          <p:cNvCxnSpPr>
            <a:cxnSpLocks/>
          </p:cNvCxnSpPr>
          <p:nvPr/>
        </p:nvCxnSpPr>
        <p:spPr>
          <a:xfrm>
            <a:off x="4735085" y="5079978"/>
            <a:ext cx="31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Python (programming language) - Wikipedia">
            <a:extLst>
              <a:ext uri="{FF2B5EF4-FFF2-40B4-BE49-F238E27FC236}">
                <a16:creationId xmlns:a16="http://schemas.microsoft.com/office/drawing/2014/main" id="{E88DE7BB-AA43-7CF1-1262-70FB2EE38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81" y="5461869"/>
            <a:ext cx="753705" cy="753705"/>
          </a:xfrm>
          <a:prstGeom prst="rect">
            <a:avLst/>
          </a:prstGeom>
        </p:spPr>
      </p:pic>
      <p:pic>
        <p:nvPicPr>
          <p:cNvPr id="41" name="Picture 40" descr="FDA Name and Logo Policy | FDA">
            <a:extLst>
              <a:ext uri="{FF2B5EF4-FFF2-40B4-BE49-F238E27FC236}">
                <a16:creationId xmlns:a16="http://schemas.microsoft.com/office/drawing/2014/main" id="{7A179D1A-CEAE-B3E1-D972-6900C04B9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395" y="3120569"/>
            <a:ext cx="766143" cy="587509"/>
          </a:xfrm>
          <a:prstGeom prst="rect">
            <a:avLst/>
          </a:prstGeom>
        </p:spPr>
      </p:pic>
      <p:pic>
        <p:nvPicPr>
          <p:cNvPr id="42" name="Picture 41" descr="Branding">
            <a:extLst>
              <a:ext uri="{FF2B5EF4-FFF2-40B4-BE49-F238E27FC236}">
                <a16:creationId xmlns:a16="http://schemas.microsoft.com/office/drawing/2014/main" id="{C19AED35-32B2-13C2-D2CE-B4DB42F80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955" y="3738270"/>
            <a:ext cx="697776" cy="697776"/>
          </a:xfrm>
          <a:prstGeom prst="rect">
            <a:avLst/>
          </a:prstGeom>
        </p:spPr>
      </p:pic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6C602A5-A21E-CFC5-F973-8112679F5F2E}"/>
              </a:ext>
            </a:extLst>
          </p:cNvPr>
          <p:cNvCxnSpPr>
            <a:cxnSpLocks/>
            <a:stCxn id="8" idx="0"/>
            <a:endCxn id="50" idx="1"/>
          </p:cNvCxnSpPr>
          <p:nvPr/>
        </p:nvCxnSpPr>
        <p:spPr>
          <a:xfrm rot="5400000" flipH="1" flipV="1">
            <a:off x="1133560" y="2082870"/>
            <a:ext cx="1291746" cy="16351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D6EECF0-B99B-8FC6-8CD4-AA079C12AF04}"/>
              </a:ext>
            </a:extLst>
          </p:cNvPr>
          <p:cNvSpPr/>
          <p:nvPr/>
        </p:nvSpPr>
        <p:spPr>
          <a:xfrm>
            <a:off x="2597032" y="1953098"/>
            <a:ext cx="1288769" cy="602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Orchestration with Airflow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A162B77-9B28-54AC-40BF-1D9B27C98B54}"/>
              </a:ext>
            </a:extLst>
          </p:cNvPr>
          <p:cNvCxnSpPr>
            <a:cxnSpLocks/>
            <a:stCxn id="50" idx="3"/>
            <a:endCxn id="26" idx="0"/>
          </p:cNvCxnSpPr>
          <p:nvPr/>
        </p:nvCxnSpPr>
        <p:spPr>
          <a:xfrm>
            <a:off x="3885801" y="2254595"/>
            <a:ext cx="1751800" cy="86597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An Introduction to AWS S3: Naming Rules, Sub Resource ...">
            <a:extLst>
              <a:ext uri="{FF2B5EF4-FFF2-40B4-BE49-F238E27FC236}">
                <a16:creationId xmlns:a16="http://schemas.microsoft.com/office/drawing/2014/main" id="{0B32F834-FB15-E1DA-9558-F278A2581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569" y="5461869"/>
            <a:ext cx="890409" cy="724069"/>
          </a:xfrm>
          <a:prstGeom prst="rect">
            <a:avLst/>
          </a:prstGeom>
        </p:spPr>
      </p:pic>
      <p:pic>
        <p:nvPicPr>
          <p:cNvPr id="59" name="Picture 58" descr="Snowflake Logo, symbol, meaning ...">
            <a:extLst>
              <a:ext uri="{FF2B5EF4-FFF2-40B4-BE49-F238E27FC236}">
                <a16:creationId xmlns:a16="http://schemas.microsoft.com/office/drawing/2014/main" id="{C13DCC75-2840-314B-F27B-2F65684297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459" r="18220"/>
          <a:stretch>
            <a:fillRect/>
          </a:stretch>
        </p:blipFill>
        <p:spPr>
          <a:xfrm>
            <a:off x="5251618" y="5484235"/>
            <a:ext cx="814980" cy="732321"/>
          </a:xfrm>
          <a:prstGeom prst="rect">
            <a:avLst/>
          </a:prstGeom>
        </p:spPr>
      </p:pic>
      <p:pic>
        <p:nvPicPr>
          <p:cNvPr id="60" name="Picture 59" descr="Brand • Streamlit">
            <a:extLst>
              <a:ext uri="{FF2B5EF4-FFF2-40B4-BE49-F238E27FC236}">
                <a16:creationId xmlns:a16="http://schemas.microsoft.com/office/drawing/2014/main" id="{F8888E58-F0F3-AE73-0945-69663C82A4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4640" y="5548898"/>
            <a:ext cx="1030697" cy="602993"/>
          </a:xfrm>
          <a:prstGeom prst="rect">
            <a:avLst/>
          </a:prstGeom>
        </p:spPr>
      </p:pic>
      <p:pic>
        <p:nvPicPr>
          <p:cNvPr id="61" name="Picture 60" descr="Dbt icon - Free Download PNG &amp; SVG ...">
            <a:extLst>
              <a:ext uri="{FF2B5EF4-FFF2-40B4-BE49-F238E27FC236}">
                <a16:creationId xmlns:a16="http://schemas.microsoft.com/office/drawing/2014/main" id="{D3AB544B-2233-5CCE-32B0-4BA5D39F2F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6541" b="31646"/>
          <a:stretch>
            <a:fillRect/>
          </a:stretch>
        </p:blipFill>
        <p:spPr>
          <a:xfrm>
            <a:off x="6603229" y="3173647"/>
            <a:ext cx="1123452" cy="469750"/>
          </a:xfrm>
          <a:prstGeom prst="rect">
            <a:avLst/>
          </a:prstGeom>
        </p:spPr>
      </p:pic>
      <p:pic>
        <p:nvPicPr>
          <p:cNvPr id="63" name="Picture 62" descr="Apache Airflow - Wikipedia">
            <a:extLst>
              <a:ext uri="{FF2B5EF4-FFF2-40B4-BE49-F238E27FC236}">
                <a16:creationId xmlns:a16="http://schemas.microsoft.com/office/drawing/2014/main" id="{D1CCCFA3-FB91-F4C9-29EA-D437026EDE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5044" y="1332252"/>
            <a:ext cx="1224281" cy="47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8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85288"/>
          </a:xfrm>
        </p:spPr>
        <p:txBody>
          <a:bodyPr anchor="t"/>
          <a:lstStyle/>
          <a:p>
            <a:r>
              <a:rPr lang="en-US"/>
              <a:t>Ingestion Pipeline Design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23924D-5868-B717-67E6-5D326AA700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005943"/>
              </p:ext>
            </p:extLst>
          </p:nvPr>
        </p:nvGraphicFramePr>
        <p:xfrm>
          <a:off x="457200" y="1604434"/>
          <a:ext cx="7772400" cy="2341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9F1A1-5CD3-BBA0-C287-FA92DB1A8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8295-34F0-A122-02A4-14BA541E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630055"/>
          </a:xfrm>
        </p:spPr>
        <p:txBody>
          <a:bodyPr anchor="t"/>
          <a:lstStyle/>
          <a:p>
            <a:r>
              <a:rPr dirty="0"/>
              <a:t>Data Modeling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B4C72E-EE51-257B-54AF-DFC02F72A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994877"/>
              </p:ext>
            </p:extLst>
          </p:nvPr>
        </p:nvGraphicFramePr>
        <p:xfrm>
          <a:off x="457200" y="1604433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63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605508"/>
          </a:xfrm>
        </p:spPr>
        <p:txBody>
          <a:bodyPr anchor="t">
            <a:normAutofit/>
          </a:bodyPr>
          <a:lstStyle/>
          <a:p>
            <a:r>
              <a:rPr dirty="0"/>
              <a:t>Engineering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954073-EEBF-09CE-E6FA-E2EA0817A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862312"/>
              </p:ext>
            </p:extLst>
          </p:nvPr>
        </p:nvGraphicFramePr>
        <p:xfrm>
          <a:off x="457200" y="1604434"/>
          <a:ext cx="7704894" cy="23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430C-AF16-B789-9055-4E500715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715972"/>
          </a:xfrm>
        </p:spPr>
        <p:txBody>
          <a:bodyPr anchor="t"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63B9F-7D70-151A-CA7D-B44905948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4433"/>
            <a:ext cx="7772400" cy="3649133"/>
          </a:xfrm>
        </p:spPr>
        <p:txBody>
          <a:bodyPr anchor="t"/>
          <a:lstStyle/>
          <a:p>
            <a:pPr>
              <a:buClrTx/>
            </a:pPr>
            <a:r>
              <a:rPr lang="en-US" dirty="0"/>
              <a:t>This is a placeholder for a demo video</a:t>
            </a:r>
          </a:p>
        </p:txBody>
      </p:sp>
    </p:spTree>
    <p:extLst>
      <p:ext uri="{BB962C8B-B14F-4D97-AF65-F5344CB8AC3E}">
        <p14:creationId xmlns:p14="http://schemas.microsoft.com/office/powerpoint/2010/main" val="23028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734383"/>
          </a:xfrm>
        </p:spPr>
        <p:txBody>
          <a:bodyPr anchor="t"/>
          <a:lstStyle/>
          <a:p>
            <a:r>
              <a:rPr lang="en-US" dirty="0"/>
              <a:t>Work still to Come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BF37E3-2F66-6B6B-FCE7-5F741DD39E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4433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623918"/>
          </a:xfrm>
        </p:spPr>
        <p:txBody>
          <a:bodyPr anchor="t"/>
          <a:lstStyle/>
          <a:p>
            <a:r>
              <a:rPr dirty="0"/>
              <a:t>Q</a:t>
            </a:r>
            <a:r>
              <a:rPr lang="en-US" dirty="0"/>
              <a:t>uestions?</a:t>
            </a:r>
            <a:endParaRPr dirty="0"/>
          </a:p>
        </p:txBody>
      </p:sp>
      <p:pic>
        <p:nvPicPr>
          <p:cNvPr id="4" name="Picture 3" descr="Apache Airflow - Wikipedia">
            <a:extLst>
              <a:ext uri="{FF2B5EF4-FFF2-40B4-BE49-F238E27FC236}">
                <a16:creationId xmlns:a16="http://schemas.microsoft.com/office/drawing/2014/main" id="{B174E56F-AC91-45BF-3FA4-FC8A67C3A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28" y="2036340"/>
            <a:ext cx="1224281" cy="470097"/>
          </a:xfrm>
          <a:prstGeom prst="rect">
            <a:avLst/>
          </a:prstGeom>
        </p:spPr>
      </p:pic>
      <p:pic>
        <p:nvPicPr>
          <p:cNvPr id="5" name="Picture 4" descr="Python (programming language) - Wikipedia">
            <a:extLst>
              <a:ext uri="{FF2B5EF4-FFF2-40B4-BE49-F238E27FC236}">
                <a16:creationId xmlns:a16="http://schemas.microsoft.com/office/drawing/2014/main" id="{0E5C6605-E7D9-AAC7-40ED-A7205CBEA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605" y="5626461"/>
            <a:ext cx="753705" cy="753705"/>
          </a:xfrm>
          <a:prstGeom prst="rect">
            <a:avLst/>
          </a:prstGeom>
        </p:spPr>
      </p:pic>
      <p:pic>
        <p:nvPicPr>
          <p:cNvPr id="6" name="Picture 5" descr="An Introduction to AWS S3: Naming Rules, Sub Resource ...">
            <a:extLst>
              <a:ext uri="{FF2B5EF4-FFF2-40B4-BE49-F238E27FC236}">
                <a16:creationId xmlns:a16="http://schemas.microsoft.com/office/drawing/2014/main" id="{E50F6E33-7A76-246D-2F3C-7D2533D32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40" y="4090269"/>
            <a:ext cx="890409" cy="724069"/>
          </a:xfrm>
          <a:prstGeom prst="rect">
            <a:avLst/>
          </a:prstGeom>
        </p:spPr>
      </p:pic>
      <p:pic>
        <p:nvPicPr>
          <p:cNvPr id="7" name="Picture 6" descr="Snowflake Logo, symbol, meaning ...">
            <a:extLst>
              <a:ext uri="{FF2B5EF4-FFF2-40B4-BE49-F238E27FC236}">
                <a16:creationId xmlns:a16="http://schemas.microsoft.com/office/drawing/2014/main" id="{BBF6A85D-AB27-D1B4-AF7A-D422BBE884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459" r="18220"/>
          <a:stretch>
            <a:fillRect/>
          </a:stretch>
        </p:blipFill>
        <p:spPr>
          <a:xfrm>
            <a:off x="7223592" y="1993152"/>
            <a:ext cx="814980" cy="732321"/>
          </a:xfrm>
          <a:prstGeom prst="rect">
            <a:avLst/>
          </a:prstGeom>
        </p:spPr>
      </p:pic>
      <p:pic>
        <p:nvPicPr>
          <p:cNvPr id="8" name="Picture 7" descr="Brand • Streamlit">
            <a:extLst>
              <a:ext uri="{FF2B5EF4-FFF2-40B4-BE49-F238E27FC236}">
                <a16:creationId xmlns:a16="http://schemas.microsoft.com/office/drawing/2014/main" id="{515E9C1E-F8DC-2B2F-3BD4-FC5822F11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5548317"/>
            <a:ext cx="1030697" cy="602993"/>
          </a:xfrm>
          <a:prstGeom prst="rect">
            <a:avLst/>
          </a:prstGeom>
        </p:spPr>
      </p:pic>
      <p:pic>
        <p:nvPicPr>
          <p:cNvPr id="9" name="Picture 8" descr="Dbt icon - Free Download PNG &amp; SVG ...">
            <a:extLst>
              <a:ext uri="{FF2B5EF4-FFF2-40B4-BE49-F238E27FC236}">
                <a16:creationId xmlns:a16="http://schemas.microsoft.com/office/drawing/2014/main" id="{162F1D7B-BACD-8BC4-175B-32A57067A7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6541" b="31646"/>
          <a:stretch>
            <a:fillRect/>
          </a:stretch>
        </p:blipFill>
        <p:spPr>
          <a:xfrm>
            <a:off x="6516610" y="4217428"/>
            <a:ext cx="1123452" cy="469750"/>
          </a:xfrm>
          <a:prstGeom prst="rect">
            <a:avLst/>
          </a:prstGeom>
        </p:spPr>
      </p:pic>
      <p:pic>
        <p:nvPicPr>
          <p:cNvPr id="10" name="Picture 9" descr="Docker full logo transparent PNG - StickPNG">
            <a:extLst>
              <a:ext uri="{FF2B5EF4-FFF2-40B4-BE49-F238E27FC236}">
                <a16:creationId xmlns:a16="http://schemas.microsoft.com/office/drawing/2014/main" id="{0A94577C-94AB-EBD7-56DB-89977A6740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7037" y="2824623"/>
            <a:ext cx="890408" cy="89040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443</TotalTime>
  <Words>447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Adverse Drug Reaction Demographic Pipeline</vt:lpstr>
      <vt:lpstr>Introduction</vt:lpstr>
      <vt:lpstr>Project Objectives</vt:lpstr>
      <vt:lpstr>System Architecture</vt:lpstr>
      <vt:lpstr>Ingestion Pipeline Design</vt:lpstr>
      <vt:lpstr>Data Modeling</vt:lpstr>
      <vt:lpstr>Engineering Challenges</vt:lpstr>
      <vt:lpstr>DEMO</vt:lpstr>
      <vt:lpstr>Work still to Come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Balli</cp:lastModifiedBy>
  <cp:revision>8</cp:revision>
  <dcterms:created xsi:type="dcterms:W3CDTF">2013-01-27T09:14:16Z</dcterms:created>
  <dcterms:modified xsi:type="dcterms:W3CDTF">2026-05-16T18:49:07Z</dcterms:modified>
  <cp:category/>
</cp:coreProperties>
</file>